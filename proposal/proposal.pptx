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71" r:id="rId4"/>
    <p:sldId id="258" r:id="rId5"/>
    <p:sldId id="259" r:id="rId6"/>
    <p:sldId id="272" r:id="rId7"/>
    <p:sldId id="273" r:id="rId8"/>
    <p:sldId id="274" r:id="rId9"/>
    <p:sldId id="260" r:id="rId10"/>
    <p:sldId id="261" r:id="rId11"/>
    <p:sldId id="262" r:id="rId12"/>
    <p:sldId id="263" r:id="rId13"/>
    <p:sldId id="264" r:id="rId14"/>
    <p:sldId id="265" r:id="rId15"/>
    <p:sldId id="266" r:id="rId16"/>
    <p:sldId id="267" r:id="rId17"/>
    <p:sldId id="275" r:id="rId18"/>
    <p:sldId id="268" r:id="rId19"/>
    <p:sldId id="269" r:id="rId20"/>
    <p:sldId id="278" r:id="rId21"/>
    <p:sldId id="270" r:id="rId22"/>
    <p:sldId id="277"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29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9794B4-A26F-47C9-AA51-9331E30DA5BE}" type="slidenum">
              <a:rPr lang="en-US" smtClean="0"/>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4337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226304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2420886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3374855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646321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927704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3485832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3349011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1327965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3686862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3097393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9794B4-A26F-47C9-AA51-9331E30DA5BE}" type="slidenum">
              <a:rPr lang="en-US" smtClean="0"/>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3284407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2216733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9794B4-A26F-47C9-AA51-9331E30DA5BE}" type="slidenum">
              <a:rPr lang="en-US" smtClean="0"/>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531559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2448263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18907251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1B0080-0103-49A0-BCA5-5D7911230CE0}" type="datetimeFigureOut">
              <a:rPr lang="en-US" smtClean="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9794B4-A26F-47C9-AA51-9331E30DA5BE}" type="slidenum">
              <a:rPr lang="en-US" smtClean="0"/>
              <a:t>‹#›</a:t>
            </a:fld>
            <a:endParaRPr lang="en-US" dirty="0"/>
          </a:p>
        </p:txBody>
      </p:sp>
    </p:spTree>
    <p:extLst>
      <p:ext uri="{BB962C8B-B14F-4D97-AF65-F5344CB8AC3E}">
        <p14:creationId xmlns:p14="http://schemas.microsoft.com/office/powerpoint/2010/main" val="3950588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111B0080-0103-49A0-BCA5-5D7911230CE0}" type="datetimeFigureOut">
              <a:rPr lang="en-US" smtClean="0"/>
              <a:t>9/19/2025</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9794B4-A26F-47C9-AA51-9331E30DA5BE}" type="slidenum">
              <a:rPr lang="en-US" smtClean="0"/>
              <a:t>‹#›</a:t>
            </a:fld>
            <a:endParaRPr lang="en-US" dirty="0"/>
          </a:p>
        </p:txBody>
      </p:sp>
    </p:spTree>
    <p:extLst>
      <p:ext uri="{BB962C8B-B14F-4D97-AF65-F5344CB8AC3E}">
        <p14:creationId xmlns:p14="http://schemas.microsoft.com/office/powerpoint/2010/main" val="2451334966"/>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video" Target="https://www.youtube.com/embed/AUyqmwbT5Vc?feature=oembed" TargetMode="External"/><Relationship Id="rId4" Type="http://schemas.openxmlformats.org/officeDocument/2006/relationships/image" Target="../media/image18.jpeg"/></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video" Target="https://www.youtube.com/embed/0Sg_M8UlneM?feature=oembed" TargetMode="External"/><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A675F33-98AF-4B83-A3BB-0780A231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Robot operating a machine">
            <a:extLst>
              <a:ext uri="{FF2B5EF4-FFF2-40B4-BE49-F238E27FC236}">
                <a16:creationId xmlns:a16="http://schemas.microsoft.com/office/drawing/2014/main" id="{24D6E69B-19EA-C806-C85A-F39DBB544A57}"/>
              </a:ext>
            </a:extLst>
          </p:cNvPr>
          <p:cNvPicPr>
            <a:picLocks noChangeAspect="1"/>
          </p:cNvPicPr>
          <p:nvPr/>
        </p:nvPicPr>
        <p:blipFill>
          <a:blip r:embed="rId2">
            <a:alphaModFix amt="40000"/>
          </a:blip>
          <a:srcRect t="3596" b="23114"/>
          <a:stretch>
            <a:fillRect/>
          </a:stretch>
        </p:blipFill>
        <p:spPr>
          <a:xfrm>
            <a:off x="-3175" y="10"/>
            <a:ext cx="12192000" cy="6857990"/>
          </a:xfrm>
          <a:prstGeom prst="rect">
            <a:avLst/>
          </a:prstGeom>
        </p:spPr>
      </p:pic>
      <p:sp>
        <p:nvSpPr>
          <p:cNvPr id="2" name="Title 1">
            <a:extLst>
              <a:ext uri="{FF2B5EF4-FFF2-40B4-BE49-F238E27FC236}">
                <a16:creationId xmlns:a16="http://schemas.microsoft.com/office/drawing/2014/main" id="{A15AA270-BB85-1EE8-7D8E-43ECAA9BED58}"/>
              </a:ext>
            </a:extLst>
          </p:cNvPr>
          <p:cNvSpPr>
            <a:spLocks noGrp="1"/>
          </p:cNvSpPr>
          <p:nvPr>
            <p:ph type="ctrTitle"/>
          </p:nvPr>
        </p:nvSpPr>
        <p:spPr>
          <a:xfrm>
            <a:off x="735012" y="3693160"/>
            <a:ext cx="5787708" cy="1564640"/>
          </a:xfrm>
        </p:spPr>
        <p:txBody>
          <a:bodyPr>
            <a:normAutofit/>
          </a:bodyPr>
          <a:lstStyle/>
          <a:p>
            <a:r>
              <a:rPr lang="en-US" dirty="0"/>
              <a:t>EN2533 - Robot presentation</a:t>
            </a:r>
          </a:p>
        </p:txBody>
      </p:sp>
      <p:sp>
        <p:nvSpPr>
          <p:cNvPr id="3" name="TextBox 2">
            <a:extLst>
              <a:ext uri="{FF2B5EF4-FFF2-40B4-BE49-F238E27FC236}">
                <a16:creationId xmlns:a16="http://schemas.microsoft.com/office/drawing/2014/main" id="{C4C59B5E-84B3-A827-711A-AF4A1516BE43}"/>
              </a:ext>
            </a:extLst>
          </p:cNvPr>
          <p:cNvSpPr txBox="1"/>
          <p:nvPr/>
        </p:nvSpPr>
        <p:spPr>
          <a:xfrm>
            <a:off x="8270240" y="325120"/>
            <a:ext cx="3342640" cy="892552"/>
          </a:xfrm>
          <a:prstGeom prst="rect">
            <a:avLst/>
          </a:prstGeom>
          <a:noFill/>
        </p:spPr>
        <p:txBody>
          <a:bodyPr wrap="square" rtlCol="0">
            <a:spAutoFit/>
          </a:bodyPr>
          <a:lstStyle/>
          <a:p>
            <a:pPr algn="ctr"/>
            <a:r>
              <a:rPr lang="en-US" sz="3200" dirty="0"/>
              <a:t>TEAM HELABOTS</a:t>
            </a:r>
          </a:p>
          <a:p>
            <a:endParaRPr lang="en-US" sz="2000" dirty="0"/>
          </a:p>
        </p:txBody>
      </p:sp>
      <p:sp>
        <p:nvSpPr>
          <p:cNvPr id="4" name="TextBox 3">
            <a:extLst>
              <a:ext uri="{FF2B5EF4-FFF2-40B4-BE49-F238E27FC236}">
                <a16:creationId xmlns:a16="http://schemas.microsoft.com/office/drawing/2014/main" id="{2C7ED2B6-5787-090F-4F03-599148C7C089}"/>
              </a:ext>
            </a:extLst>
          </p:cNvPr>
          <p:cNvSpPr txBox="1"/>
          <p:nvPr/>
        </p:nvSpPr>
        <p:spPr>
          <a:xfrm>
            <a:off x="609600" y="5521682"/>
            <a:ext cx="2153920" cy="369332"/>
          </a:xfrm>
          <a:prstGeom prst="rect">
            <a:avLst/>
          </a:prstGeom>
          <a:noFill/>
        </p:spPr>
        <p:txBody>
          <a:bodyPr wrap="square" rtlCol="0">
            <a:spAutoFit/>
          </a:bodyPr>
          <a:lstStyle/>
          <a:p>
            <a:pPr algn="ctr"/>
            <a:r>
              <a:rPr lang="en-US" i="1" dirty="0"/>
              <a:t>230045X</a:t>
            </a:r>
          </a:p>
        </p:txBody>
      </p:sp>
      <p:sp>
        <p:nvSpPr>
          <p:cNvPr id="5" name="TextBox 4">
            <a:extLst>
              <a:ext uri="{FF2B5EF4-FFF2-40B4-BE49-F238E27FC236}">
                <a16:creationId xmlns:a16="http://schemas.microsoft.com/office/drawing/2014/main" id="{7E7D17BD-6C0C-AB85-EC87-C6C9DDCBA599}"/>
              </a:ext>
            </a:extLst>
          </p:cNvPr>
          <p:cNvSpPr txBox="1"/>
          <p:nvPr/>
        </p:nvSpPr>
        <p:spPr>
          <a:xfrm>
            <a:off x="4022567" y="5521682"/>
            <a:ext cx="2947988" cy="369332"/>
          </a:xfrm>
          <a:prstGeom prst="rect">
            <a:avLst/>
          </a:prstGeom>
          <a:noFill/>
        </p:spPr>
        <p:txBody>
          <a:bodyPr wrap="square" rtlCol="0">
            <a:spAutoFit/>
          </a:bodyPr>
          <a:lstStyle/>
          <a:p>
            <a:r>
              <a:rPr lang="en-US" i="1" dirty="0"/>
              <a:t>230140J</a:t>
            </a:r>
          </a:p>
        </p:txBody>
      </p:sp>
      <p:sp>
        <p:nvSpPr>
          <p:cNvPr id="6" name="TextBox 5">
            <a:extLst>
              <a:ext uri="{FF2B5EF4-FFF2-40B4-BE49-F238E27FC236}">
                <a16:creationId xmlns:a16="http://schemas.microsoft.com/office/drawing/2014/main" id="{763F012F-68B8-ECB3-6001-FB5712DED48E}"/>
              </a:ext>
            </a:extLst>
          </p:cNvPr>
          <p:cNvSpPr txBox="1"/>
          <p:nvPr/>
        </p:nvSpPr>
        <p:spPr>
          <a:xfrm>
            <a:off x="7091680" y="5521682"/>
            <a:ext cx="2651760" cy="369332"/>
          </a:xfrm>
          <a:prstGeom prst="rect">
            <a:avLst/>
          </a:prstGeom>
          <a:noFill/>
        </p:spPr>
        <p:txBody>
          <a:bodyPr wrap="square" rtlCol="0">
            <a:spAutoFit/>
          </a:bodyPr>
          <a:lstStyle/>
          <a:p>
            <a:r>
              <a:rPr lang="en-US" i="1" dirty="0"/>
              <a:t>230697V</a:t>
            </a:r>
          </a:p>
        </p:txBody>
      </p:sp>
      <p:sp>
        <p:nvSpPr>
          <p:cNvPr id="7" name="TextBox 6">
            <a:extLst>
              <a:ext uri="{FF2B5EF4-FFF2-40B4-BE49-F238E27FC236}">
                <a16:creationId xmlns:a16="http://schemas.microsoft.com/office/drawing/2014/main" id="{14325DE7-D6F1-83D1-04C8-254FC43E7399}"/>
              </a:ext>
            </a:extLst>
          </p:cNvPr>
          <p:cNvSpPr txBox="1"/>
          <p:nvPr/>
        </p:nvSpPr>
        <p:spPr>
          <a:xfrm>
            <a:off x="9801066" y="5521682"/>
            <a:ext cx="2140268" cy="369332"/>
          </a:xfrm>
          <a:prstGeom prst="rect">
            <a:avLst/>
          </a:prstGeom>
          <a:noFill/>
        </p:spPr>
        <p:txBody>
          <a:bodyPr wrap="square" rtlCol="0">
            <a:spAutoFit/>
          </a:bodyPr>
          <a:lstStyle/>
          <a:p>
            <a:r>
              <a:rPr lang="en-US" i="1" dirty="0"/>
              <a:t>230730T</a:t>
            </a:r>
          </a:p>
        </p:txBody>
      </p:sp>
      <p:sp>
        <p:nvSpPr>
          <p:cNvPr id="8" name="TextBox 7">
            <a:extLst>
              <a:ext uri="{FF2B5EF4-FFF2-40B4-BE49-F238E27FC236}">
                <a16:creationId xmlns:a16="http://schemas.microsoft.com/office/drawing/2014/main" id="{C810895B-B59F-B51B-2D0F-E3FF645F16DB}"/>
              </a:ext>
            </a:extLst>
          </p:cNvPr>
          <p:cNvSpPr txBox="1"/>
          <p:nvPr/>
        </p:nvSpPr>
        <p:spPr>
          <a:xfrm>
            <a:off x="609600" y="5934670"/>
            <a:ext cx="2153920" cy="369332"/>
          </a:xfrm>
          <a:prstGeom prst="rect">
            <a:avLst/>
          </a:prstGeom>
          <a:noFill/>
        </p:spPr>
        <p:txBody>
          <a:bodyPr wrap="square" rtlCol="0">
            <a:spAutoFit/>
          </a:bodyPr>
          <a:lstStyle/>
          <a:p>
            <a:pPr algn="ctr"/>
            <a:r>
              <a:rPr lang="en-US" i="1" dirty="0"/>
              <a:t>Anthony C.S.B.</a:t>
            </a:r>
          </a:p>
        </p:txBody>
      </p:sp>
      <p:sp>
        <p:nvSpPr>
          <p:cNvPr id="9" name="TextBox 8">
            <a:extLst>
              <a:ext uri="{FF2B5EF4-FFF2-40B4-BE49-F238E27FC236}">
                <a16:creationId xmlns:a16="http://schemas.microsoft.com/office/drawing/2014/main" id="{A24CA39D-DE1C-42AD-D02E-2491F019FB4E}"/>
              </a:ext>
            </a:extLst>
          </p:cNvPr>
          <p:cNvSpPr txBox="1"/>
          <p:nvPr/>
        </p:nvSpPr>
        <p:spPr>
          <a:xfrm>
            <a:off x="3212306" y="5932884"/>
            <a:ext cx="3134360" cy="369332"/>
          </a:xfrm>
          <a:prstGeom prst="rect">
            <a:avLst/>
          </a:prstGeom>
          <a:noFill/>
        </p:spPr>
        <p:txBody>
          <a:bodyPr wrap="square" rtlCol="0">
            <a:spAutoFit/>
          </a:bodyPr>
          <a:lstStyle/>
          <a:p>
            <a:r>
              <a:rPr lang="en-US" i="1" dirty="0" err="1"/>
              <a:t>Dharmakeerthi</a:t>
            </a:r>
            <a:r>
              <a:rPr lang="en-US" i="1" dirty="0"/>
              <a:t> P.K.G.C.L.</a:t>
            </a:r>
          </a:p>
        </p:txBody>
      </p:sp>
      <p:sp>
        <p:nvSpPr>
          <p:cNvPr id="10" name="TextBox 9">
            <a:extLst>
              <a:ext uri="{FF2B5EF4-FFF2-40B4-BE49-F238E27FC236}">
                <a16:creationId xmlns:a16="http://schemas.microsoft.com/office/drawing/2014/main" id="{4FFC4428-9F37-731A-0503-5AD00BA87148}"/>
              </a:ext>
            </a:extLst>
          </p:cNvPr>
          <p:cNvSpPr txBox="1"/>
          <p:nvPr/>
        </p:nvSpPr>
        <p:spPr>
          <a:xfrm>
            <a:off x="6431438" y="5932884"/>
            <a:ext cx="2651760" cy="369332"/>
          </a:xfrm>
          <a:prstGeom prst="rect">
            <a:avLst/>
          </a:prstGeom>
          <a:noFill/>
        </p:spPr>
        <p:txBody>
          <a:bodyPr wrap="square" rtlCol="0">
            <a:spAutoFit/>
          </a:bodyPr>
          <a:lstStyle/>
          <a:p>
            <a:r>
              <a:rPr lang="en-US" i="1" dirty="0"/>
              <a:t>Weerasinghe J.A.H.R.</a:t>
            </a:r>
          </a:p>
        </p:txBody>
      </p:sp>
      <p:sp>
        <p:nvSpPr>
          <p:cNvPr id="11" name="TextBox 10">
            <a:extLst>
              <a:ext uri="{FF2B5EF4-FFF2-40B4-BE49-F238E27FC236}">
                <a16:creationId xmlns:a16="http://schemas.microsoft.com/office/drawing/2014/main" id="{591F9361-D2D8-2462-D748-56367B1F7832}"/>
              </a:ext>
            </a:extLst>
          </p:cNvPr>
          <p:cNvSpPr txBox="1"/>
          <p:nvPr/>
        </p:nvSpPr>
        <p:spPr>
          <a:xfrm>
            <a:off x="9442132" y="5879683"/>
            <a:ext cx="2140268" cy="369332"/>
          </a:xfrm>
          <a:prstGeom prst="rect">
            <a:avLst/>
          </a:prstGeom>
          <a:noFill/>
        </p:spPr>
        <p:txBody>
          <a:bodyPr wrap="square" rtlCol="0">
            <a:spAutoFit/>
          </a:bodyPr>
          <a:lstStyle/>
          <a:p>
            <a:r>
              <a:rPr lang="en-US" i="1" dirty="0" err="1"/>
              <a:t>Wijethilaka</a:t>
            </a:r>
            <a:r>
              <a:rPr lang="en-US" i="1" dirty="0"/>
              <a:t> J.S.</a:t>
            </a:r>
          </a:p>
        </p:txBody>
      </p:sp>
    </p:spTree>
    <p:extLst>
      <p:ext uri="{BB962C8B-B14F-4D97-AF65-F5344CB8AC3E}">
        <p14:creationId xmlns:p14="http://schemas.microsoft.com/office/powerpoint/2010/main" val="108501385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circle(in)">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23" name="Rectangle 22">
            <a:extLst>
              <a:ext uri="{FF2B5EF4-FFF2-40B4-BE49-F238E27FC236}">
                <a16:creationId xmlns:a16="http://schemas.microsoft.com/office/drawing/2014/main" id="{7A675F33-98AF-4B83-A3BB-0780A231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Vibrant multicolor checkered floor design">
            <a:extLst>
              <a:ext uri="{FF2B5EF4-FFF2-40B4-BE49-F238E27FC236}">
                <a16:creationId xmlns:a16="http://schemas.microsoft.com/office/drawing/2014/main" id="{CD19C3DF-15D1-D140-FAC7-579A01426AEA}"/>
              </a:ext>
            </a:extLst>
          </p:cNvPr>
          <p:cNvPicPr>
            <a:picLocks noChangeAspect="1"/>
          </p:cNvPicPr>
          <p:nvPr/>
        </p:nvPicPr>
        <p:blipFill>
          <a:blip r:embed="rId2">
            <a:alphaModFix amt="40000"/>
          </a:blip>
          <a:srcRect t="16667"/>
          <a:stretch>
            <a:fillRect/>
          </a:stretch>
        </p:blipFill>
        <p:spPr>
          <a:xfrm>
            <a:off x="-3175" y="10"/>
            <a:ext cx="12192000" cy="6857990"/>
          </a:xfrm>
          <a:prstGeom prst="rect">
            <a:avLst/>
          </a:prstGeom>
        </p:spPr>
      </p:pic>
      <p:sp>
        <p:nvSpPr>
          <p:cNvPr id="7" name="TextBox 6">
            <a:extLst>
              <a:ext uri="{FF2B5EF4-FFF2-40B4-BE49-F238E27FC236}">
                <a16:creationId xmlns:a16="http://schemas.microsoft.com/office/drawing/2014/main" id="{AB0AB221-E123-25BD-D118-82CD7B173B4F}"/>
              </a:ext>
            </a:extLst>
          </p:cNvPr>
          <p:cNvSpPr txBox="1"/>
          <p:nvPr/>
        </p:nvSpPr>
        <p:spPr>
          <a:xfrm>
            <a:off x="1060132" y="685800"/>
            <a:ext cx="8001000" cy="2971801"/>
          </a:xfrm>
          <a:prstGeom prst="rect">
            <a:avLst/>
          </a:prstGeom>
        </p:spPr>
        <p:txBody>
          <a:bodyPr vert="horz" lIns="91440" tIns="45720" rIns="91440" bIns="45720" rtlCol="0" anchor="b">
            <a:normAutofit/>
          </a:bodyPr>
          <a:lstStyle/>
          <a:p>
            <a:pPr>
              <a:spcBef>
                <a:spcPct val="0"/>
              </a:spcBef>
              <a:spcAft>
                <a:spcPts val="600"/>
              </a:spcAft>
            </a:pPr>
            <a:r>
              <a:rPr lang="en-US" sz="4800" cap="all" dirty="0">
                <a:ln w="3175" cmpd="sng">
                  <a:noFill/>
                </a:ln>
                <a:latin typeface="+mj-lt"/>
                <a:ea typeface="+mj-ea"/>
                <a:cs typeface="+mj-cs"/>
              </a:rPr>
              <a:t>Timeline</a:t>
            </a:r>
          </a:p>
        </p:txBody>
      </p:sp>
    </p:spTree>
    <p:extLst>
      <p:ext uri="{BB962C8B-B14F-4D97-AF65-F5344CB8AC3E}">
        <p14:creationId xmlns:p14="http://schemas.microsoft.com/office/powerpoint/2010/main" val="834854645"/>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0C9415-FF7A-E52A-0057-1CF7188A3542}"/>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5E510296-B16B-DA18-86F5-944AEC8FC9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3C106BB-53A4-EE1D-025D-81F61ED853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5925CB1-E37F-1992-1A56-BD6309A049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4BFC939-889F-F7A4-7C03-1116FD7F4CC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778E9A8C-DB4F-5ECC-BE1B-D8FCF3B7C9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23" name="Rectangle 22">
            <a:extLst>
              <a:ext uri="{FF2B5EF4-FFF2-40B4-BE49-F238E27FC236}">
                <a16:creationId xmlns:a16="http://schemas.microsoft.com/office/drawing/2014/main" id="{D450C59E-84E9-8F2E-B277-7AAAEBC56E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9" name="Picture 8" descr="Vibrant multicolor checkered floor design">
            <a:extLst>
              <a:ext uri="{FF2B5EF4-FFF2-40B4-BE49-F238E27FC236}">
                <a16:creationId xmlns:a16="http://schemas.microsoft.com/office/drawing/2014/main" id="{2ACA2AAF-B3AF-E06D-36C3-21E60F6D2D42}"/>
              </a:ext>
            </a:extLst>
          </p:cNvPr>
          <p:cNvPicPr>
            <a:picLocks noChangeAspect="1"/>
          </p:cNvPicPr>
          <p:nvPr/>
        </p:nvPicPr>
        <p:blipFill>
          <a:blip r:embed="rId2">
            <a:alphaModFix amt="40000"/>
          </a:blip>
          <a:srcRect t="16667"/>
          <a:stretch>
            <a:fillRect/>
          </a:stretch>
        </p:blipFill>
        <p:spPr>
          <a:xfrm>
            <a:off x="-3175" y="10"/>
            <a:ext cx="12192000" cy="6857990"/>
          </a:xfrm>
          <a:prstGeom prst="rect">
            <a:avLst/>
          </a:prstGeom>
        </p:spPr>
      </p:pic>
      <p:sp>
        <p:nvSpPr>
          <p:cNvPr id="7" name="TextBox 6">
            <a:extLst>
              <a:ext uri="{FF2B5EF4-FFF2-40B4-BE49-F238E27FC236}">
                <a16:creationId xmlns:a16="http://schemas.microsoft.com/office/drawing/2014/main" id="{CD235C0D-8E9B-EE1B-9EA0-6F5CA075F385}"/>
              </a:ext>
            </a:extLst>
          </p:cNvPr>
          <p:cNvSpPr txBox="1"/>
          <p:nvPr/>
        </p:nvSpPr>
        <p:spPr>
          <a:xfrm>
            <a:off x="684212" y="685799"/>
            <a:ext cx="8001000" cy="2971801"/>
          </a:xfrm>
          <a:prstGeom prst="rect">
            <a:avLst/>
          </a:prstGeom>
        </p:spPr>
        <p:txBody>
          <a:bodyPr vert="horz" lIns="91440" tIns="45720" rIns="91440" bIns="45720" rtlCol="0" anchor="b">
            <a:normAutofit/>
          </a:bodyPr>
          <a:lstStyle/>
          <a:p>
            <a:pPr marL="0" marR="0" lvl="0" indent="0" algn="l" defTabSz="457200" rtl="0" eaLnBrk="1" fontAlgn="auto" latinLnBrk="0" hangingPunct="1">
              <a:lnSpc>
                <a:spcPct val="100000"/>
              </a:lnSpc>
              <a:spcBef>
                <a:spcPct val="0"/>
              </a:spcBef>
              <a:spcAft>
                <a:spcPts val="600"/>
              </a:spcAft>
              <a:buClrTx/>
              <a:buSzTx/>
              <a:buFontTx/>
              <a:buNone/>
              <a:tabLst/>
              <a:defRPr/>
            </a:pPr>
            <a:endParaRPr kumimoji="0" lang="en-US" sz="4800" b="0" i="0" u="none" strike="noStrike" kern="1200" cap="all" spc="0" normalizeH="0" baseline="0" noProof="0" dirty="0">
              <a:ln w="3175" cmpd="sng">
                <a:noFill/>
              </a:ln>
              <a:solidFill>
                <a:prstClr val="white"/>
              </a:solidFill>
              <a:effectLst/>
              <a:uLnTx/>
              <a:uFillTx/>
              <a:latin typeface="Century Gothic" panose="020B0502020202020204"/>
              <a:ea typeface="+mn-ea"/>
              <a:cs typeface="+mn-cs"/>
            </a:endParaRPr>
          </a:p>
        </p:txBody>
      </p:sp>
      <p:graphicFrame>
        <p:nvGraphicFramePr>
          <p:cNvPr id="3" name="Table 2">
            <a:extLst>
              <a:ext uri="{FF2B5EF4-FFF2-40B4-BE49-F238E27FC236}">
                <a16:creationId xmlns:a16="http://schemas.microsoft.com/office/drawing/2014/main" id="{38677583-28AB-9B42-29AC-3AA08E43DCA1}"/>
              </a:ext>
            </a:extLst>
          </p:cNvPr>
          <p:cNvGraphicFramePr>
            <a:graphicFrameLocks noGrp="1"/>
          </p:cNvGraphicFramePr>
          <p:nvPr>
            <p:extLst>
              <p:ext uri="{D42A27DB-BD31-4B8C-83A1-F6EECF244321}">
                <p14:modId xmlns:p14="http://schemas.microsoft.com/office/powerpoint/2010/main" val="3534378953"/>
              </p:ext>
            </p:extLst>
          </p:nvPr>
        </p:nvGraphicFramePr>
        <p:xfrm>
          <a:off x="379241" y="867823"/>
          <a:ext cx="11457856" cy="2420669"/>
        </p:xfrm>
        <a:graphic>
          <a:graphicData uri="http://schemas.openxmlformats.org/drawingml/2006/table">
            <a:tbl>
              <a:tblPr firstRow="1" bandRow="1">
                <a:tableStyleId>{5C22544A-7EE6-4342-B048-85BDC9FD1C3A}</a:tableStyleId>
              </a:tblPr>
              <a:tblGrid>
                <a:gridCol w="1432232">
                  <a:extLst>
                    <a:ext uri="{9D8B030D-6E8A-4147-A177-3AD203B41FA5}">
                      <a16:colId xmlns:a16="http://schemas.microsoft.com/office/drawing/2014/main" val="3412927689"/>
                    </a:ext>
                  </a:extLst>
                </a:gridCol>
                <a:gridCol w="1432232">
                  <a:extLst>
                    <a:ext uri="{9D8B030D-6E8A-4147-A177-3AD203B41FA5}">
                      <a16:colId xmlns:a16="http://schemas.microsoft.com/office/drawing/2014/main" val="2145708390"/>
                    </a:ext>
                  </a:extLst>
                </a:gridCol>
                <a:gridCol w="1432232">
                  <a:extLst>
                    <a:ext uri="{9D8B030D-6E8A-4147-A177-3AD203B41FA5}">
                      <a16:colId xmlns:a16="http://schemas.microsoft.com/office/drawing/2014/main" val="2610711268"/>
                    </a:ext>
                  </a:extLst>
                </a:gridCol>
                <a:gridCol w="1432232">
                  <a:extLst>
                    <a:ext uri="{9D8B030D-6E8A-4147-A177-3AD203B41FA5}">
                      <a16:colId xmlns:a16="http://schemas.microsoft.com/office/drawing/2014/main" val="1277476232"/>
                    </a:ext>
                  </a:extLst>
                </a:gridCol>
                <a:gridCol w="1432232">
                  <a:extLst>
                    <a:ext uri="{9D8B030D-6E8A-4147-A177-3AD203B41FA5}">
                      <a16:colId xmlns:a16="http://schemas.microsoft.com/office/drawing/2014/main" val="1172681843"/>
                    </a:ext>
                  </a:extLst>
                </a:gridCol>
                <a:gridCol w="1432232">
                  <a:extLst>
                    <a:ext uri="{9D8B030D-6E8A-4147-A177-3AD203B41FA5}">
                      <a16:colId xmlns:a16="http://schemas.microsoft.com/office/drawing/2014/main" val="2312011735"/>
                    </a:ext>
                  </a:extLst>
                </a:gridCol>
                <a:gridCol w="1432232">
                  <a:extLst>
                    <a:ext uri="{9D8B030D-6E8A-4147-A177-3AD203B41FA5}">
                      <a16:colId xmlns:a16="http://schemas.microsoft.com/office/drawing/2014/main" val="4066009579"/>
                    </a:ext>
                  </a:extLst>
                </a:gridCol>
                <a:gridCol w="1432232">
                  <a:extLst>
                    <a:ext uri="{9D8B030D-6E8A-4147-A177-3AD203B41FA5}">
                      <a16:colId xmlns:a16="http://schemas.microsoft.com/office/drawing/2014/main" val="3792190499"/>
                    </a:ext>
                  </a:extLst>
                </a:gridCol>
              </a:tblGrid>
              <a:tr h="600298">
                <a:tc gridSpan="4">
                  <a:txBody>
                    <a:bodyPr/>
                    <a:lstStyle/>
                    <a:p>
                      <a:pPr algn="ctr"/>
                      <a:r>
                        <a:rPr lang="en-US" dirty="0"/>
                        <a:t>September</a:t>
                      </a:r>
                    </a:p>
                  </a:txBody>
                  <a:tcPr>
                    <a:solidFill>
                      <a:schemeClr val="bg1">
                        <a:lumMod val="85000"/>
                        <a:lumOff val="15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4">
                  <a:txBody>
                    <a:bodyPr/>
                    <a:lstStyle/>
                    <a:p>
                      <a:pPr algn="ctr"/>
                      <a:r>
                        <a:rPr lang="en-US" dirty="0"/>
                        <a:t>October</a:t>
                      </a:r>
                    </a:p>
                  </a:txBody>
                  <a:tcPr>
                    <a:solidFill>
                      <a:schemeClr val="bg1">
                        <a:lumMod val="85000"/>
                        <a:lumOff val="15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159702834"/>
                  </a:ext>
                </a:extLst>
              </a:tr>
              <a:tr h="600298">
                <a:tc>
                  <a:txBody>
                    <a:bodyPr/>
                    <a:lstStyle/>
                    <a:p>
                      <a:pPr algn="ctr"/>
                      <a:r>
                        <a:rPr lang="en-US" dirty="0"/>
                        <a:t>Week 1</a:t>
                      </a:r>
                    </a:p>
                  </a:txBody>
                  <a:tcPr/>
                </a:tc>
                <a:tc>
                  <a:txBody>
                    <a:bodyPr/>
                    <a:lstStyle/>
                    <a:p>
                      <a:pPr algn="ctr"/>
                      <a:r>
                        <a:rPr lang="en-US" dirty="0"/>
                        <a:t>Week 2</a:t>
                      </a:r>
                    </a:p>
                  </a:txBody>
                  <a:tcPr/>
                </a:tc>
                <a:tc>
                  <a:txBody>
                    <a:bodyPr/>
                    <a:lstStyle/>
                    <a:p>
                      <a:pPr algn="ctr"/>
                      <a:r>
                        <a:rPr lang="en-US" dirty="0"/>
                        <a:t>Week 3</a:t>
                      </a:r>
                    </a:p>
                  </a:txBody>
                  <a:tcPr/>
                </a:tc>
                <a:tc>
                  <a:txBody>
                    <a:bodyPr/>
                    <a:lstStyle/>
                    <a:p>
                      <a:pPr algn="ctr"/>
                      <a:r>
                        <a:rPr lang="en-US" dirty="0"/>
                        <a:t>Week 4</a:t>
                      </a:r>
                    </a:p>
                  </a:txBody>
                  <a:tcPr/>
                </a:tc>
                <a:tc>
                  <a:txBody>
                    <a:bodyPr/>
                    <a:lstStyle/>
                    <a:p>
                      <a:pPr algn="ctr"/>
                      <a:r>
                        <a:rPr lang="en-US" dirty="0"/>
                        <a:t>Week 5</a:t>
                      </a:r>
                    </a:p>
                  </a:txBody>
                  <a:tcPr/>
                </a:tc>
                <a:tc>
                  <a:txBody>
                    <a:bodyPr/>
                    <a:lstStyle/>
                    <a:p>
                      <a:pPr algn="ctr"/>
                      <a:r>
                        <a:rPr lang="en-US" dirty="0"/>
                        <a:t>Week 6</a:t>
                      </a:r>
                    </a:p>
                  </a:txBody>
                  <a:tcPr/>
                </a:tc>
                <a:tc>
                  <a:txBody>
                    <a:bodyPr/>
                    <a:lstStyle/>
                    <a:p>
                      <a:pPr algn="ctr"/>
                      <a:r>
                        <a:rPr lang="en-US" dirty="0"/>
                        <a:t>Week 7</a:t>
                      </a:r>
                    </a:p>
                  </a:txBody>
                  <a:tcPr/>
                </a:tc>
                <a:tc>
                  <a:txBody>
                    <a:bodyPr/>
                    <a:lstStyle/>
                    <a:p>
                      <a:pPr algn="ctr"/>
                      <a:r>
                        <a:rPr lang="en-US" dirty="0"/>
                        <a:t>Week 8</a:t>
                      </a:r>
                    </a:p>
                  </a:txBody>
                  <a:tcPr/>
                </a:tc>
                <a:extLst>
                  <a:ext uri="{0D108BD9-81ED-4DB2-BD59-A6C34878D82A}">
                    <a16:rowId xmlns:a16="http://schemas.microsoft.com/office/drawing/2014/main" val="2115683473"/>
                  </a:ext>
                </a:extLst>
              </a:tr>
              <a:tr h="1220073">
                <a:tc>
                  <a:txBody>
                    <a:bodyPr/>
                    <a:lstStyle/>
                    <a:p>
                      <a:pPr algn="ctr"/>
                      <a:r>
                        <a:rPr lang="en-US" sz="1400" dirty="0"/>
                        <a:t>Task Identification, Initial Designs</a:t>
                      </a:r>
                    </a:p>
                  </a:txBody>
                  <a:tcPr/>
                </a:tc>
                <a:tc>
                  <a:txBody>
                    <a:bodyPr/>
                    <a:lstStyle/>
                    <a:p>
                      <a:pPr algn="ctr"/>
                      <a:r>
                        <a:rPr lang="en-US" sz="1400" dirty="0"/>
                        <a:t>Component selection, Purchasing components</a:t>
                      </a:r>
                    </a:p>
                  </a:txBody>
                  <a:tcPr/>
                </a:tc>
                <a:tc>
                  <a:txBody>
                    <a:bodyPr/>
                    <a:lstStyle/>
                    <a:p>
                      <a:pPr algn="ctr"/>
                      <a:r>
                        <a:rPr lang="en-US" sz="1400" dirty="0"/>
                        <a:t>Preparation for assignment and Task evaluation</a:t>
                      </a:r>
                    </a:p>
                  </a:txBody>
                  <a:tcPr/>
                </a:tc>
                <a:tc>
                  <a:txBody>
                    <a:bodyPr/>
                    <a:lstStyle/>
                    <a:p>
                      <a:pPr algn="ctr"/>
                      <a:r>
                        <a:rPr lang="en-US" sz="1500" dirty="0"/>
                        <a:t>Initial Assembling</a:t>
                      </a:r>
                    </a:p>
                  </a:txBody>
                  <a:tcPr/>
                </a:tc>
                <a:tc gridSpan="2">
                  <a:txBody>
                    <a:bodyPr/>
                    <a:lstStyle/>
                    <a:p>
                      <a:pPr algn="ctr"/>
                      <a:r>
                        <a:rPr lang="en-US" dirty="0"/>
                        <a:t>Coding and Testing</a:t>
                      </a:r>
                    </a:p>
                  </a:txBody>
                  <a:tcPr/>
                </a:tc>
                <a:tc hMerge="1">
                  <a:txBody>
                    <a:bodyPr/>
                    <a:lstStyle/>
                    <a:p>
                      <a:pPr algn="ctr"/>
                      <a:endParaRPr lang="en-US" dirty="0"/>
                    </a:p>
                  </a:txBody>
                  <a:tcPr/>
                </a:tc>
                <a:tc gridSpan="2">
                  <a:txBody>
                    <a:bodyPr/>
                    <a:lstStyle/>
                    <a:p>
                      <a:pPr algn="ctr"/>
                      <a:r>
                        <a:rPr lang="en-US" dirty="0"/>
                        <a:t>Finalizing Assembling of the Robot</a:t>
                      </a:r>
                    </a:p>
                  </a:txBody>
                  <a:tcPr/>
                </a:tc>
                <a:tc hMerge="1">
                  <a:txBody>
                    <a:bodyPr/>
                    <a:lstStyle/>
                    <a:p>
                      <a:pPr algn="ctr"/>
                      <a:endParaRPr lang="en-US" dirty="0"/>
                    </a:p>
                  </a:txBody>
                  <a:tcPr/>
                </a:tc>
                <a:extLst>
                  <a:ext uri="{0D108BD9-81ED-4DB2-BD59-A6C34878D82A}">
                    <a16:rowId xmlns:a16="http://schemas.microsoft.com/office/drawing/2014/main" val="1159506969"/>
                  </a:ext>
                </a:extLst>
              </a:tr>
            </a:tbl>
          </a:graphicData>
        </a:graphic>
      </p:graphicFrame>
      <p:graphicFrame>
        <p:nvGraphicFramePr>
          <p:cNvPr id="4" name="Table 3">
            <a:extLst>
              <a:ext uri="{FF2B5EF4-FFF2-40B4-BE49-F238E27FC236}">
                <a16:creationId xmlns:a16="http://schemas.microsoft.com/office/drawing/2014/main" id="{176B1687-87A4-68BC-CA2E-434D09D7F3E5}"/>
              </a:ext>
            </a:extLst>
          </p:cNvPr>
          <p:cNvGraphicFramePr>
            <a:graphicFrameLocks noGrp="1"/>
          </p:cNvGraphicFramePr>
          <p:nvPr>
            <p:extLst>
              <p:ext uri="{D42A27DB-BD31-4B8C-83A1-F6EECF244321}">
                <p14:modId xmlns:p14="http://schemas.microsoft.com/office/powerpoint/2010/main" val="3680021883"/>
              </p:ext>
            </p:extLst>
          </p:nvPr>
        </p:nvGraphicFramePr>
        <p:xfrm>
          <a:off x="379241" y="3836744"/>
          <a:ext cx="11457856" cy="2423393"/>
        </p:xfrm>
        <a:graphic>
          <a:graphicData uri="http://schemas.openxmlformats.org/drawingml/2006/table">
            <a:tbl>
              <a:tblPr firstRow="1" bandRow="1">
                <a:tableStyleId>{5C22544A-7EE6-4342-B048-85BDC9FD1C3A}</a:tableStyleId>
              </a:tblPr>
              <a:tblGrid>
                <a:gridCol w="1432232">
                  <a:extLst>
                    <a:ext uri="{9D8B030D-6E8A-4147-A177-3AD203B41FA5}">
                      <a16:colId xmlns:a16="http://schemas.microsoft.com/office/drawing/2014/main" val="3412927689"/>
                    </a:ext>
                  </a:extLst>
                </a:gridCol>
                <a:gridCol w="1432232">
                  <a:extLst>
                    <a:ext uri="{9D8B030D-6E8A-4147-A177-3AD203B41FA5}">
                      <a16:colId xmlns:a16="http://schemas.microsoft.com/office/drawing/2014/main" val="2145708390"/>
                    </a:ext>
                  </a:extLst>
                </a:gridCol>
                <a:gridCol w="1432232">
                  <a:extLst>
                    <a:ext uri="{9D8B030D-6E8A-4147-A177-3AD203B41FA5}">
                      <a16:colId xmlns:a16="http://schemas.microsoft.com/office/drawing/2014/main" val="2610711268"/>
                    </a:ext>
                  </a:extLst>
                </a:gridCol>
                <a:gridCol w="1432232">
                  <a:extLst>
                    <a:ext uri="{9D8B030D-6E8A-4147-A177-3AD203B41FA5}">
                      <a16:colId xmlns:a16="http://schemas.microsoft.com/office/drawing/2014/main" val="1277476232"/>
                    </a:ext>
                  </a:extLst>
                </a:gridCol>
                <a:gridCol w="1432232">
                  <a:extLst>
                    <a:ext uri="{9D8B030D-6E8A-4147-A177-3AD203B41FA5}">
                      <a16:colId xmlns:a16="http://schemas.microsoft.com/office/drawing/2014/main" val="1172681843"/>
                    </a:ext>
                  </a:extLst>
                </a:gridCol>
                <a:gridCol w="1432232">
                  <a:extLst>
                    <a:ext uri="{9D8B030D-6E8A-4147-A177-3AD203B41FA5}">
                      <a16:colId xmlns:a16="http://schemas.microsoft.com/office/drawing/2014/main" val="2312011735"/>
                    </a:ext>
                  </a:extLst>
                </a:gridCol>
                <a:gridCol w="1432232">
                  <a:extLst>
                    <a:ext uri="{9D8B030D-6E8A-4147-A177-3AD203B41FA5}">
                      <a16:colId xmlns:a16="http://schemas.microsoft.com/office/drawing/2014/main" val="4066009579"/>
                    </a:ext>
                  </a:extLst>
                </a:gridCol>
                <a:gridCol w="1432232">
                  <a:extLst>
                    <a:ext uri="{9D8B030D-6E8A-4147-A177-3AD203B41FA5}">
                      <a16:colId xmlns:a16="http://schemas.microsoft.com/office/drawing/2014/main" val="3792190499"/>
                    </a:ext>
                  </a:extLst>
                </a:gridCol>
              </a:tblGrid>
              <a:tr h="603022">
                <a:tc gridSpan="4">
                  <a:txBody>
                    <a:bodyPr/>
                    <a:lstStyle/>
                    <a:p>
                      <a:pPr algn="ctr"/>
                      <a:r>
                        <a:rPr lang="en-US" dirty="0"/>
                        <a:t>November</a:t>
                      </a:r>
                    </a:p>
                  </a:txBody>
                  <a:tcPr>
                    <a:solidFill>
                      <a:schemeClr val="bg1">
                        <a:lumMod val="85000"/>
                        <a:lumOff val="15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4">
                  <a:txBody>
                    <a:bodyPr/>
                    <a:lstStyle/>
                    <a:p>
                      <a:pPr algn="ctr"/>
                      <a:r>
                        <a:rPr lang="en-US" dirty="0"/>
                        <a:t>December</a:t>
                      </a:r>
                    </a:p>
                  </a:txBody>
                  <a:tcPr>
                    <a:solidFill>
                      <a:schemeClr val="bg1">
                        <a:lumMod val="85000"/>
                        <a:lumOff val="15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159702834"/>
                  </a:ext>
                </a:extLst>
              </a:tr>
              <a:tr h="600298">
                <a:tc>
                  <a:txBody>
                    <a:bodyPr/>
                    <a:lstStyle/>
                    <a:p>
                      <a:pPr algn="ctr"/>
                      <a:r>
                        <a:rPr lang="en-US" dirty="0"/>
                        <a:t>Week 9</a:t>
                      </a:r>
                    </a:p>
                  </a:txBody>
                  <a:tcPr/>
                </a:tc>
                <a:tc>
                  <a:txBody>
                    <a:bodyPr/>
                    <a:lstStyle/>
                    <a:p>
                      <a:pPr algn="ctr"/>
                      <a:r>
                        <a:rPr lang="en-US" dirty="0"/>
                        <a:t>Week 10</a:t>
                      </a:r>
                    </a:p>
                  </a:txBody>
                  <a:tcPr/>
                </a:tc>
                <a:tc>
                  <a:txBody>
                    <a:bodyPr/>
                    <a:lstStyle/>
                    <a:p>
                      <a:pPr algn="ctr"/>
                      <a:r>
                        <a:rPr lang="en-US" dirty="0"/>
                        <a:t>Week 11</a:t>
                      </a:r>
                    </a:p>
                  </a:txBody>
                  <a:tcPr/>
                </a:tc>
                <a:tc>
                  <a:txBody>
                    <a:bodyPr/>
                    <a:lstStyle/>
                    <a:p>
                      <a:pPr algn="ctr"/>
                      <a:r>
                        <a:rPr lang="en-US" dirty="0"/>
                        <a:t>Week 12</a:t>
                      </a:r>
                    </a:p>
                  </a:txBody>
                  <a:tcPr/>
                </a:tc>
                <a:tc>
                  <a:txBody>
                    <a:bodyPr/>
                    <a:lstStyle/>
                    <a:p>
                      <a:pPr algn="ctr"/>
                      <a:r>
                        <a:rPr lang="en-US" dirty="0"/>
                        <a:t>Week 13</a:t>
                      </a:r>
                    </a:p>
                  </a:txBody>
                  <a:tcPr/>
                </a:tc>
                <a:tc>
                  <a:txBody>
                    <a:bodyPr/>
                    <a:lstStyle/>
                    <a:p>
                      <a:pPr algn="ctr"/>
                      <a:r>
                        <a:rPr lang="en-US" dirty="0"/>
                        <a:t>Week 14</a:t>
                      </a:r>
                    </a:p>
                  </a:txBody>
                  <a:tcPr/>
                </a:tc>
                <a:tc>
                  <a:txBody>
                    <a:bodyPr/>
                    <a:lstStyle/>
                    <a:p>
                      <a:pPr algn="ctr"/>
                      <a:r>
                        <a:rPr lang="en-US" dirty="0"/>
                        <a:t>Week 15</a:t>
                      </a:r>
                    </a:p>
                  </a:txBody>
                  <a:tcPr/>
                </a:tc>
                <a:tc>
                  <a:txBody>
                    <a:bodyPr/>
                    <a:lstStyle/>
                    <a:p>
                      <a:pPr algn="ctr"/>
                      <a:r>
                        <a:rPr lang="en-US" dirty="0"/>
                        <a:t>Week 16</a:t>
                      </a:r>
                    </a:p>
                  </a:txBody>
                  <a:tcPr/>
                </a:tc>
                <a:extLst>
                  <a:ext uri="{0D108BD9-81ED-4DB2-BD59-A6C34878D82A}">
                    <a16:rowId xmlns:a16="http://schemas.microsoft.com/office/drawing/2014/main" val="2115683473"/>
                  </a:ext>
                </a:extLst>
              </a:tr>
              <a:tr h="1220073">
                <a:tc>
                  <a:txBody>
                    <a:bodyPr/>
                    <a:lstStyle/>
                    <a:p>
                      <a:pPr algn="ctr"/>
                      <a:r>
                        <a:rPr lang="en-US" sz="1400" dirty="0"/>
                        <a:t>Preparation for mid evaluation</a:t>
                      </a:r>
                    </a:p>
                  </a:txBody>
                  <a:tcPr/>
                </a:tc>
                <a:tc gridSpan="3">
                  <a:txBody>
                    <a:bodyPr/>
                    <a:lstStyle/>
                    <a:p>
                      <a:pPr algn="ctr"/>
                      <a:r>
                        <a:rPr lang="en-US" dirty="0"/>
                        <a:t>End Semester Examinations</a:t>
                      </a:r>
                    </a:p>
                  </a:txBody>
                  <a:tcPr/>
                </a:tc>
                <a:tc hMerge="1">
                  <a:txBody>
                    <a:bodyPr/>
                    <a:lstStyle/>
                    <a:p>
                      <a:endParaRPr lang="en-US" dirty="0"/>
                    </a:p>
                  </a:txBody>
                  <a:tcPr/>
                </a:tc>
                <a:tc hMerge="1">
                  <a:txBody>
                    <a:bodyPr/>
                    <a:lstStyle/>
                    <a:p>
                      <a:endParaRPr lang="en-US" dirty="0"/>
                    </a:p>
                  </a:txBody>
                  <a:tcPr/>
                </a:tc>
                <a:tc gridSpan="3">
                  <a:txBody>
                    <a:bodyPr/>
                    <a:lstStyle/>
                    <a:p>
                      <a:pPr algn="ctr"/>
                      <a:r>
                        <a:rPr lang="en-US" dirty="0"/>
                        <a:t>Calibration, Testing and Debugging</a:t>
                      </a:r>
                    </a:p>
                  </a:txBody>
                  <a:tcPr/>
                </a:tc>
                <a:tc hMerge="1">
                  <a:txBody>
                    <a:bodyPr/>
                    <a:lstStyle/>
                    <a:p>
                      <a:endParaRPr dirty="0"/>
                    </a:p>
                  </a:txBody>
                  <a:tcPr/>
                </a:tc>
                <a:tc hMerge="1">
                  <a:txBody>
                    <a:bodyPr/>
                    <a:lstStyle/>
                    <a:p>
                      <a:pPr algn="ctr"/>
                      <a:endParaRPr lang="en-US" dirty="0"/>
                    </a:p>
                  </a:txBody>
                  <a:tcPr/>
                </a:tc>
                <a:tc>
                  <a:txBody>
                    <a:bodyPr/>
                    <a:lstStyle/>
                    <a:p>
                      <a:pPr algn="ctr"/>
                      <a:r>
                        <a:rPr lang="en-US" sz="1400" dirty="0"/>
                        <a:t>Robot Competition</a:t>
                      </a:r>
                    </a:p>
                  </a:txBody>
                  <a:tcPr/>
                </a:tc>
                <a:extLst>
                  <a:ext uri="{0D108BD9-81ED-4DB2-BD59-A6C34878D82A}">
                    <a16:rowId xmlns:a16="http://schemas.microsoft.com/office/drawing/2014/main" val="1159506969"/>
                  </a:ext>
                </a:extLst>
              </a:tr>
            </a:tbl>
          </a:graphicData>
        </a:graphic>
      </p:graphicFrame>
    </p:spTree>
    <p:extLst>
      <p:ext uri="{BB962C8B-B14F-4D97-AF65-F5344CB8AC3E}">
        <p14:creationId xmlns:p14="http://schemas.microsoft.com/office/powerpoint/2010/main" val="178100837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35" name="Rectangle 34">
            <a:extLst>
              <a:ext uri="{FF2B5EF4-FFF2-40B4-BE49-F238E27FC236}">
                <a16:creationId xmlns:a16="http://schemas.microsoft.com/office/drawing/2014/main" id="{7A675F33-98AF-4B83-A3BB-0780A231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Solo journey">
            <a:extLst>
              <a:ext uri="{FF2B5EF4-FFF2-40B4-BE49-F238E27FC236}">
                <a16:creationId xmlns:a16="http://schemas.microsoft.com/office/drawing/2014/main" id="{E2884DDE-EDE0-AF54-1AE5-14F71AB5E415}"/>
              </a:ext>
            </a:extLst>
          </p:cNvPr>
          <p:cNvPicPr>
            <a:picLocks noChangeAspect="1"/>
          </p:cNvPicPr>
          <p:nvPr/>
        </p:nvPicPr>
        <p:blipFill>
          <a:blip r:embed="rId2">
            <a:alphaModFix amt="40000"/>
          </a:blip>
          <a:srcRect t="16151" b="8849"/>
          <a:stretch>
            <a:fillRect/>
          </a:stretch>
        </p:blipFill>
        <p:spPr>
          <a:xfrm>
            <a:off x="-3175" y="10"/>
            <a:ext cx="12192000" cy="6857990"/>
          </a:xfrm>
          <a:prstGeom prst="rect">
            <a:avLst/>
          </a:prstGeom>
        </p:spPr>
      </p:pic>
      <p:sp>
        <p:nvSpPr>
          <p:cNvPr id="4" name="TextBox 3">
            <a:extLst>
              <a:ext uri="{FF2B5EF4-FFF2-40B4-BE49-F238E27FC236}">
                <a16:creationId xmlns:a16="http://schemas.microsoft.com/office/drawing/2014/main" id="{4AFF4449-413D-5392-5D16-9607C9F264A2}"/>
              </a:ext>
            </a:extLst>
          </p:cNvPr>
          <p:cNvSpPr txBox="1"/>
          <p:nvPr/>
        </p:nvSpPr>
        <p:spPr>
          <a:xfrm>
            <a:off x="684212" y="228600"/>
            <a:ext cx="8001000" cy="2971801"/>
          </a:xfrm>
          <a:prstGeom prst="rect">
            <a:avLst/>
          </a:prstGeom>
        </p:spPr>
        <p:txBody>
          <a:bodyPr vert="horz" lIns="91440" tIns="45720" rIns="91440" bIns="45720" rtlCol="0" anchor="b">
            <a:normAutofit/>
          </a:bodyPr>
          <a:lstStyle/>
          <a:p>
            <a:pPr>
              <a:spcBef>
                <a:spcPct val="0"/>
              </a:spcBef>
              <a:spcAft>
                <a:spcPts val="600"/>
              </a:spcAft>
            </a:pPr>
            <a:r>
              <a:rPr lang="en-US" sz="4800" cap="all" dirty="0">
                <a:ln w="3175" cmpd="sng">
                  <a:noFill/>
                </a:ln>
                <a:latin typeface="+mj-lt"/>
                <a:ea typeface="+mj-ea"/>
                <a:cs typeface="+mj-cs"/>
              </a:rPr>
              <a:t>Task 1 -  The Labyrinth of Shadows</a:t>
            </a:r>
          </a:p>
        </p:txBody>
      </p:sp>
    </p:spTree>
    <p:extLst>
      <p:ext uri="{BB962C8B-B14F-4D97-AF65-F5344CB8AC3E}">
        <p14:creationId xmlns:p14="http://schemas.microsoft.com/office/powerpoint/2010/main" val="26271191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122DB-E7F3-071E-8EE5-88A2C36D2812}"/>
            </a:ext>
          </a:extLst>
        </p:cNvPr>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A92A1DA2-AFF2-3DA7-B467-A8E2F1F6E7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53E8B8E4-5786-9BDF-E861-8D3BED351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66B03B8-12EC-E9B8-94F7-51F9ECC8AB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D239BE1-5DC8-AA48-89AD-AC3238788D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A5C93EF-47B2-5CD9-711D-C5AA0E2EA8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35" name="Rectangle 34">
            <a:extLst>
              <a:ext uri="{FF2B5EF4-FFF2-40B4-BE49-F238E27FC236}">
                <a16:creationId xmlns:a16="http://schemas.microsoft.com/office/drawing/2014/main" id="{6778DF29-5B4F-7B4A-D87D-3F21104C8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descr="Solo journey">
            <a:extLst>
              <a:ext uri="{FF2B5EF4-FFF2-40B4-BE49-F238E27FC236}">
                <a16:creationId xmlns:a16="http://schemas.microsoft.com/office/drawing/2014/main" id="{0A4C37D7-C8D1-783E-E879-CD525903B88F}"/>
              </a:ext>
            </a:extLst>
          </p:cNvPr>
          <p:cNvPicPr>
            <a:picLocks noChangeAspect="1"/>
          </p:cNvPicPr>
          <p:nvPr/>
        </p:nvPicPr>
        <p:blipFill>
          <a:blip r:embed="rId2">
            <a:alphaModFix amt="40000"/>
          </a:blip>
          <a:srcRect t="16151" b="8849"/>
          <a:stretch>
            <a:fillRect/>
          </a:stretch>
        </p:blipFill>
        <p:spPr>
          <a:xfrm>
            <a:off x="-3175" y="10"/>
            <a:ext cx="12192000" cy="6857990"/>
          </a:xfrm>
          <a:prstGeom prst="rect">
            <a:avLst/>
          </a:prstGeom>
        </p:spPr>
      </p:pic>
      <p:pic>
        <p:nvPicPr>
          <p:cNvPr id="5" name="Picture 4">
            <a:extLst>
              <a:ext uri="{FF2B5EF4-FFF2-40B4-BE49-F238E27FC236}">
                <a16:creationId xmlns:a16="http://schemas.microsoft.com/office/drawing/2014/main" id="{EDC309BA-CDF0-9819-0A82-CD48CA2D20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3555" y="817377"/>
            <a:ext cx="4173750" cy="4155217"/>
          </a:xfrm>
          <a:prstGeom prst="rect">
            <a:avLst/>
          </a:prstGeom>
        </p:spPr>
      </p:pic>
      <p:sp>
        <p:nvSpPr>
          <p:cNvPr id="7" name="TextBox 6">
            <a:extLst>
              <a:ext uri="{FF2B5EF4-FFF2-40B4-BE49-F238E27FC236}">
                <a16:creationId xmlns:a16="http://schemas.microsoft.com/office/drawing/2014/main" id="{5A5F82C6-01BA-C83B-EA65-6BC499878BA5}"/>
              </a:ext>
            </a:extLst>
          </p:cNvPr>
          <p:cNvSpPr txBox="1"/>
          <p:nvPr/>
        </p:nvSpPr>
        <p:spPr>
          <a:xfrm>
            <a:off x="242299" y="32278"/>
            <a:ext cx="4601497" cy="830997"/>
          </a:xfrm>
          <a:prstGeom prst="rect">
            <a:avLst/>
          </a:prstGeom>
          <a:noFill/>
        </p:spPr>
        <p:txBody>
          <a:bodyPr wrap="square" rtlCol="0">
            <a:spAutoFit/>
          </a:bodyPr>
          <a:lstStyle/>
          <a:p>
            <a:r>
              <a:rPr lang="en-US" sz="4800" dirty="0"/>
              <a:t>PATH FINDING</a:t>
            </a:r>
          </a:p>
        </p:txBody>
      </p:sp>
      <p:sp>
        <p:nvSpPr>
          <p:cNvPr id="8" name="TextBox 7">
            <a:extLst>
              <a:ext uri="{FF2B5EF4-FFF2-40B4-BE49-F238E27FC236}">
                <a16:creationId xmlns:a16="http://schemas.microsoft.com/office/drawing/2014/main" id="{D0D7477F-D0A5-FACE-B9AE-4DA52FB98264}"/>
              </a:ext>
            </a:extLst>
          </p:cNvPr>
          <p:cNvSpPr txBox="1"/>
          <p:nvPr/>
        </p:nvSpPr>
        <p:spPr>
          <a:xfrm>
            <a:off x="569252" y="982682"/>
            <a:ext cx="5966652" cy="3970318"/>
          </a:xfrm>
          <a:prstGeom prst="rect">
            <a:avLst/>
          </a:prstGeom>
          <a:noFill/>
        </p:spPr>
        <p:txBody>
          <a:bodyPr wrap="square" rtlCol="0">
            <a:spAutoFit/>
          </a:bodyPr>
          <a:lstStyle/>
          <a:p>
            <a:pPr marL="285750" indent="-285750">
              <a:buFont typeface="Arial" panose="020B0604020202020204" pitchFamily="34" charset="0"/>
              <a:buChar char="•"/>
            </a:pPr>
            <a:r>
              <a:rPr lang="en-US" dirty="0"/>
              <a:t>The robot will be placed at the position P</a:t>
            </a:r>
            <a:r>
              <a:rPr lang="en-US" baseline="-25000" dirty="0"/>
              <a:t>o</a:t>
            </a:r>
            <a:r>
              <a:rPr lang="en-US" dirty="0"/>
              <a:t> and it will start traversing the grid to P</a:t>
            </a:r>
            <a:r>
              <a:rPr lang="en-US" baseline="-25000" dirty="0"/>
              <a:t>1 </a:t>
            </a:r>
            <a:r>
              <a:rPr lang="en-US" dirty="0"/>
              <a:t>avoiding all obstacles it encounter.  </a:t>
            </a:r>
          </a:p>
          <a:p>
            <a:endParaRPr lang="en-US" dirty="0"/>
          </a:p>
          <a:p>
            <a:pPr marL="285750" indent="-285750">
              <a:buFont typeface="Arial" panose="020B0604020202020204" pitchFamily="34" charset="0"/>
              <a:buChar char="•"/>
            </a:pPr>
            <a:r>
              <a:rPr lang="en-US" dirty="0"/>
              <a:t>Then it will start travelling to P</a:t>
            </a:r>
            <a:r>
              <a:rPr lang="en-US" baseline="-25000" dirty="0"/>
              <a:t>2 </a:t>
            </a:r>
            <a:r>
              <a:rPr lang="en-US" dirty="0"/>
              <a:t> while scanning the destinations where the boxes should be placed and mapping them.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Thereon from P</a:t>
            </a:r>
            <a:r>
              <a:rPr lang="en-US" baseline="-25000" dirty="0"/>
              <a:t>2</a:t>
            </a:r>
            <a:r>
              <a:rPr lang="en-US" dirty="0"/>
              <a:t> the robot will start solving the grid while avoiding obstacles.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When the robot encounters a box, it will grab it and start travelling to the appropriate destination through shortest available path. </a:t>
            </a:r>
          </a:p>
        </p:txBody>
      </p:sp>
      <p:sp>
        <p:nvSpPr>
          <p:cNvPr id="10" name="TextBox 9">
            <a:extLst>
              <a:ext uri="{FF2B5EF4-FFF2-40B4-BE49-F238E27FC236}">
                <a16:creationId xmlns:a16="http://schemas.microsoft.com/office/drawing/2014/main" id="{A1F20B31-81FD-7003-1FB4-16ED2107C912}"/>
              </a:ext>
            </a:extLst>
          </p:cNvPr>
          <p:cNvSpPr txBox="1"/>
          <p:nvPr/>
        </p:nvSpPr>
        <p:spPr>
          <a:xfrm>
            <a:off x="577523" y="5064129"/>
            <a:ext cx="11061291" cy="646331"/>
          </a:xfrm>
          <a:prstGeom prst="rect">
            <a:avLst/>
          </a:prstGeom>
          <a:noFill/>
        </p:spPr>
        <p:txBody>
          <a:bodyPr wrap="square" rtlCol="0">
            <a:spAutoFit/>
          </a:bodyPr>
          <a:lstStyle/>
          <a:p>
            <a:pPr marL="285750" indent="-285750">
              <a:buFont typeface="Arial" panose="020B0604020202020204" pitchFamily="34" charset="0"/>
              <a:buChar char="•"/>
            </a:pPr>
            <a:r>
              <a:rPr lang="en-US" dirty="0"/>
              <a:t>If an obstacle is encountered while travelling to the destination, the robot will map it and start travelling to the destination through the shortest path without the obstacle.</a:t>
            </a:r>
          </a:p>
        </p:txBody>
      </p:sp>
      <p:sp>
        <p:nvSpPr>
          <p:cNvPr id="13" name="TextBox 12">
            <a:extLst>
              <a:ext uri="{FF2B5EF4-FFF2-40B4-BE49-F238E27FC236}">
                <a16:creationId xmlns:a16="http://schemas.microsoft.com/office/drawing/2014/main" id="{DB693354-6B9A-CAE1-4F6E-34D6A415B105}"/>
              </a:ext>
            </a:extLst>
          </p:cNvPr>
          <p:cNvSpPr txBox="1"/>
          <p:nvPr/>
        </p:nvSpPr>
        <p:spPr>
          <a:xfrm>
            <a:off x="577523" y="5835859"/>
            <a:ext cx="11061291" cy="646331"/>
          </a:xfrm>
          <a:prstGeom prst="rect">
            <a:avLst/>
          </a:prstGeom>
          <a:noFill/>
        </p:spPr>
        <p:txBody>
          <a:bodyPr wrap="square" rtlCol="0">
            <a:spAutoFit/>
          </a:bodyPr>
          <a:lstStyle/>
          <a:p>
            <a:pPr marL="285750" indent="-285750">
              <a:buFont typeface="Arial" panose="020B0604020202020204" pitchFamily="34" charset="0"/>
              <a:buChar char="•"/>
            </a:pPr>
            <a:r>
              <a:rPr lang="en-US" dirty="0"/>
              <a:t>After travelling it will drop the box there and continue travelling the grid until two boxes are placed on their respective destinations.</a:t>
            </a:r>
          </a:p>
        </p:txBody>
      </p:sp>
    </p:spTree>
    <p:extLst>
      <p:ext uri="{BB962C8B-B14F-4D97-AF65-F5344CB8AC3E}">
        <p14:creationId xmlns:p14="http://schemas.microsoft.com/office/powerpoint/2010/main" val="22374849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2ADF0-1517-2225-2D9E-1919A09E96EC}"/>
            </a:ext>
          </a:extLst>
        </p:cNvPr>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D76CF585-71BC-D6F7-1C79-A9235B9ED88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D4E11C2-F563-A49C-C64B-DD56B41686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2523777-CF00-4016-2351-352CB96408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A1988FEC-DC9D-D25F-8DB9-80E32A03976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ABDD7C3-C31A-68CC-FC26-8E478A1ED7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35" name="Rectangle 34">
            <a:extLst>
              <a:ext uri="{FF2B5EF4-FFF2-40B4-BE49-F238E27FC236}">
                <a16:creationId xmlns:a16="http://schemas.microsoft.com/office/drawing/2014/main" id="{C3C5DEAF-0F17-61EA-1B3D-4FB8A3423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descr="Solo journey">
            <a:extLst>
              <a:ext uri="{FF2B5EF4-FFF2-40B4-BE49-F238E27FC236}">
                <a16:creationId xmlns:a16="http://schemas.microsoft.com/office/drawing/2014/main" id="{B7122FA2-A8BD-A38C-F2A3-BCEBF9248E07}"/>
              </a:ext>
            </a:extLst>
          </p:cNvPr>
          <p:cNvPicPr>
            <a:picLocks noChangeAspect="1"/>
          </p:cNvPicPr>
          <p:nvPr/>
        </p:nvPicPr>
        <p:blipFill>
          <a:blip r:embed="rId2">
            <a:alphaModFix amt="40000"/>
          </a:blip>
          <a:srcRect t="16151" b="8849"/>
          <a:stretch>
            <a:fillRect/>
          </a:stretch>
        </p:blipFill>
        <p:spPr>
          <a:xfrm>
            <a:off x="-3175" y="10"/>
            <a:ext cx="12192000" cy="6857990"/>
          </a:xfrm>
          <a:prstGeom prst="rect">
            <a:avLst/>
          </a:prstGeom>
        </p:spPr>
      </p:pic>
      <p:sp>
        <p:nvSpPr>
          <p:cNvPr id="2" name="TextBox 1">
            <a:extLst>
              <a:ext uri="{FF2B5EF4-FFF2-40B4-BE49-F238E27FC236}">
                <a16:creationId xmlns:a16="http://schemas.microsoft.com/office/drawing/2014/main" id="{E285BD99-4729-5AD4-BD66-11000C6460A4}"/>
              </a:ext>
            </a:extLst>
          </p:cNvPr>
          <p:cNvSpPr txBox="1"/>
          <p:nvPr/>
        </p:nvSpPr>
        <p:spPr>
          <a:xfrm>
            <a:off x="234923" y="228600"/>
            <a:ext cx="5309420" cy="707886"/>
          </a:xfrm>
          <a:prstGeom prst="rect">
            <a:avLst/>
          </a:prstGeom>
          <a:noFill/>
        </p:spPr>
        <p:txBody>
          <a:bodyPr wrap="square" rtlCol="0">
            <a:spAutoFit/>
          </a:bodyPr>
          <a:lstStyle/>
          <a:p>
            <a:r>
              <a:rPr lang="en-US" sz="4000" dirty="0"/>
              <a:t>LINE FOLLOWING</a:t>
            </a:r>
          </a:p>
        </p:txBody>
      </p:sp>
      <p:pic>
        <p:nvPicPr>
          <p:cNvPr id="4" name="Picture 3" descr="A red circuit board with black and red components">
            <a:extLst>
              <a:ext uri="{FF2B5EF4-FFF2-40B4-BE49-F238E27FC236}">
                <a16:creationId xmlns:a16="http://schemas.microsoft.com/office/drawing/2014/main" id="{E1E765DC-DA76-A85A-C7A1-64F264285B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06551" y="1656544"/>
            <a:ext cx="2153265" cy="1796882"/>
          </a:xfrm>
          <a:prstGeom prst="rect">
            <a:avLst/>
          </a:prstGeom>
        </p:spPr>
      </p:pic>
      <p:sp>
        <p:nvSpPr>
          <p:cNvPr id="5" name="TextBox 4">
            <a:extLst>
              <a:ext uri="{FF2B5EF4-FFF2-40B4-BE49-F238E27FC236}">
                <a16:creationId xmlns:a16="http://schemas.microsoft.com/office/drawing/2014/main" id="{0B81B574-B741-D24B-6C43-B97FAC4BD76F}"/>
              </a:ext>
            </a:extLst>
          </p:cNvPr>
          <p:cNvSpPr txBox="1"/>
          <p:nvPr/>
        </p:nvSpPr>
        <p:spPr>
          <a:xfrm>
            <a:off x="9154470" y="3525731"/>
            <a:ext cx="2369574" cy="646331"/>
          </a:xfrm>
          <a:prstGeom prst="rect">
            <a:avLst/>
          </a:prstGeom>
          <a:noFill/>
        </p:spPr>
        <p:txBody>
          <a:bodyPr wrap="square" rtlCol="0">
            <a:spAutoFit/>
          </a:bodyPr>
          <a:lstStyle/>
          <a:p>
            <a:pPr algn="ctr"/>
            <a:r>
              <a:rPr lang="en-US" sz="1200" dirty="0"/>
              <a:t>8-Bit Line Hunting Sensor Follower Module for Arduino (MD0167)</a:t>
            </a:r>
          </a:p>
        </p:txBody>
      </p:sp>
      <p:sp>
        <p:nvSpPr>
          <p:cNvPr id="7" name="TextBox 6">
            <a:extLst>
              <a:ext uri="{FF2B5EF4-FFF2-40B4-BE49-F238E27FC236}">
                <a16:creationId xmlns:a16="http://schemas.microsoft.com/office/drawing/2014/main" id="{D86232BD-6D4C-5286-D7DB-FB25EF7AE53F}"/>
              </a:ext>
            </a:extLst>
          </p:cNvPr>
          <p:cNvSpPr txBox="1"/>
          <p:nvPr/>
        </p:nvSpPr>
        <p:spPr>
          <a:xfrm>
            <a:off x="295533" y="1028021"/>
            <a:ext cx="8282009" cy="6463308"/>
          </a:xfrm>
          <a:prstGeom prst="rect">
            <a:avLst/>
          </a:prstGeom>
          <a:noFill/>
        </p:spPr>
        <p:txBody>
          <a:bodyPr wrap="square" rtlCol="0">
            <a:spAutoFit/>
          </a:bodyPr>
          <a:lstStyle/>
          <a:p>
            <a:pPr marL="285750" indent="-285750">
              <a:buFont typeface="Arial" panose="020B0604020202020204" pitchFamily="34" charset="0"/>
              <a:buChar char="•"/>
            </a:pPr>
            <a:r>
              <a:rPr lang="en-US" dirty="0"/>
              <a:t>We chose the </a:t>
            </a:r>
            <a:r>
              <a:rPr lang="en-US" dirty="0">
                <a:highlight>
                  <a:srgbClr val="808000"/>
                </a:highlight>
              </a:rPr>
              <a:t>MD0167 8-Bit Line Hunting Sensor Follower Module</a:t>
            </a:r>
            <a:r>
              <a:rPr lang="en-US" dirty="0"/>
              <a:t> for line following because of its,</a:t>
            </a:r>
          </a:p>
          <a:p>
            <a:endParaRPr lang="en-US" dirty="0"/>
          </a:p>
          <a:p>
            <a:pPr marL="342900" indent="-342900">
              <a:buFont typeface="Arial" panose="020B0604020202020204" pitchFamily="34" charset="0"/>
              <a:buChar char="•"/>
            </a:pPr>
            <a:r>
              <a:rPr lang="en-US" b="1" dirty="0"/>
              <a:t>Wide Detection Range</a:t>
            </a:r>
          </a:p>
          <a:p>
            <a:pPr marL="800100" lvl="1" indent="-342900">
              <a:buFont typeface="Arial" panose="020B0604020202020204" pitchFamily="34" charset="0"/>
              <a:buChar char="•"/>
            </a:pPr>
            <a:r>
              <a:rPr lang="en-US" dirty="0"/>
              <a:t>The module has 8 independent IR sensors arranged in a row, which provides much better coverage compared to single-sensor or 3-sensor modules.</a:t>
            </a:r>
          </a:p>
          <a:p>
            <a:pPr marL="800100" lvl="1" indent="-342900">
              <a:buFont typeface="Arial" panose="020B0604020202020204" pitchFamily="34" charset="0"/>
              <a:buChar char="•"/>
            </a:pPr>
            <a:endParaRPr lang="en-US" b="1" dirty="0"/>
          </a:p>
          <a:p>
            <a:pPr marL="342900" indent="-342900">
              <a:buFont typeface="Arial" panose="020B0604020202020204" pitchFamily="34" charset="0"/>
              <a:buChar char="•"/>
            </a:pPr>
            <a:r>
              <a:rPr lang="en-US" b="1" dirty="0"/>
              <a:t>High Precision and Stability</a:t>
            </a:r>
          </a:p>
          <a:p>
            <a:pPr marL="800100" lvl="1" indent="-342900">
              <a:buFont typeface="Arial" panose="020B0604020202020204" pitchFamily="34" charset="0"/>
              <a:buChar char="•"/>
            </a:pPr>
            <a:r>
              <a:rPr lang="en-US" dirty="0"/>
              <a:t>With 8 channels, it allows fine resolution in detecting the line’s exact position.</a:t>
            </a:r>
          </a:p>
          <a:p>
            <a:pPr lvl="1"/>
            <a:endParaRPr lang="en-US" b="1" dirty="0"/>
          </a:p>
          <a:p>
            <a:pPr marL="342900" indent="-342900">
              <a:buFont typeface="Arial" panose="020B0604020202020204" pitchFamily="34" charset="0"/>
              <a:buChar char="•"/>
            </a:pPr>
            <a:r>
              <a:rPr lang="en-US" b="1" dirty="0"/>
              <a:t>Simple Integration with Arduino</a:t>
            </a:r>
          </a:p>
          <a:p>
            <a:pPr marL="800100" lvl="1" indent="-342900">
              <a:buFont typeface="Arial" panose="020B0604020202020204" pitchFamily="34" charset="0"/>
              <a:buChar char="•"/>
            </a:pPr>
            <a:r>
              <a:rPr lang="en-US" dirty="0"/>
              <a:t>It’s fully compatible with Arduino and other microcontrollers.</a:t>
            </a:r>
          </a:p>
          <a:p>
            <a:pPr lvl="1"/>
            <a:endParaRPr lang="en-US" b="1" dirty="0"/>
          </a:p>
          <a:p>
            <a:pPr marL="342900" indent="-342900">
              <a:buFont typeface="Arial" panose="020B0604020202020204" pitchFamily="34" charset="0"/>
              <a:buChar char="•"/>
            </a:pPr>
            <a:r>
              <a:rPr lang="en-US" b="1" dirty="0"/>
              <a:t>Better Performance on Different Surfaces</a:t>
            </a:r>
          </a:p>
          <a:p>
            <a:pPr marL="800100" lvl="1" indent="-342900">
              <a:buFont typeface="Arial" panose="020B0604020202020204" pitchFamily="34" charset="0"/>
              <a:buChar char="•"/>
            </a:pPr>
            <a:r>
              <a:rPr lang="en-US" dirty="0"/>
              <a:t>The MD0167 has built-in sensitivity adjustment, so it works well on surfaces with varying reflectivity.</a:t>
            </a:r>
          </a:p>
          <a:p>
            <a:pPr lvl="1"/>
            <a:endParaRPr lang="en-US" b="1" dirty="0"/>
          </a:p>
          <a:p>
            <a:pPr marL="342900" indent="-342900">
              <a:buFont typeface="Arial" panose="020B0604020202020204" pitchFamily="34" charset="0"/>
              <a:buChar char="•"/>
            </a:pPr>
            <a:r>
              <a:rPr lang="en-US" b="1" dirty="0"/>
              <a:t>Cost-Effectiveness</a:t>
            </a:r>
          </a:p>
          <a:p>
            <a:pPr lvl="1"/>
            <a:endParaRPr lang="en-US" dirty="0"/>
          </a:p>
          <a:p>
            <a:pPr marL="285750" indent="-285750">
              <a:buFont typeface="Arial" panose="020B0604020202020204" pitchFamily="34" charset="0"/>
              <a:buChar char="•"/>
            </a:pPr>
            <a:endParaRPr lang="en-US" dirty="0"/>
          </a:p>
          <a:p>
            <a:pPr marL="800100" lvl="1" indent="-342900">
              <a:buFont typeface="+mj-lt"/>
              <a:buAutoNum type="arabicPeriod"/>
            </a:pPr>
            <a:endParaRPr lang="en-US" dirty="0"/>
          </a:p>
        </p:txBody>
      </p:sp>
    </p:spTree>
    <p:extLst>
      <p:ext uri="{BB962C8B-B14F-4D97-AF65-F5344CB8AC3E}">
        <p14:creationId xmlns:p14="http://schemas.microsoft.com/office/powerpoint/2010/main" val="39433703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637B5-D75A-F04E-EB00-A0D7A232E35F}"/>
            </a:ext>
          </a:extLst>
        </p:cNvPr>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0CE313DC-DB71-777D-F0AE-0C9D3F36499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6A28D9FC-1321-68B0-B574-F40AD38EA0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7D1030B-1A15-1504-7BFE-DE4FBEFE7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4CF7EAAB-E1C5-5940-F48F-CD52E5A1AC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DE3C9A7A-6CC6-5F67-44B8-DDC12E9AF3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35" name="Rectangle 34">
            <a:extLst>
              <a:ext uri="{FF2B5EF4-FFF2-40B4-BE49-F238E27FC236}">
                <a16:creationId xmlns:a16="http://schemas.microsoft.com/office/drawing/2014/main" id="{35BF6714-E931-1F32-BD5F-58118B9B4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descr="Solo journey">
            <a:extLst>
              <a:ext uri="{FF2B5EF4-FFF2-40B4-BE49-F238E27FC236}">
                <a16:creationId xmlns:a16="http://schemas.microsoft.com/office/drawing/2014/main" id="{87C92EEF-1F60-789C-7417-BE4447AA20BF}"/>
              </a:ext>
            </a:extLst>
          </p:cNvPr>
          <p:cNvPicPr>
            <a:picLocks noChangeAspect="1"/>
          </p:cNvPicPr>
          <p:nvPr/>
        </p:nvPicPr>
        <p:blipFill>
          <a:blip r:embed="rId2">
            <a:alphaModFix amt="40000"/>
          </a:blip>
          <a:srcRect t="16151" b="8849"/>
          <a:stretch>
            <a:fillRect/>
          </a:stretch>
        </p:blipFill>
        <p:spPr>
          <a:xfrm>
            <a:off x="12170" y="28410"/>
            <a:ext cx="12192000" cy="6857990"/>
          </a:xfrm>
          <a:prstGeom prst="rect">
            <a:avLst/>
          </a:prstGeom>
        </p:spPr>
      </p:pic>
      <p:sp>
        <p:nvSpPr>
          <p:cNvPr id="2" name="TextBox 1">
            <a:extLst>
              <a:ext uri="{FF2B5EF4-FFF2-40B4-BE49-F238E27FC236}">
                <a16:creationId xmlns:a16="http://schemas.microsoft.com/office/drawing/2014/main" id="{4ECAC678-49BC-0777-FC85-0D3E5C11A7BC}"/>
              </a:ext>
            </a:extLst>
          </p:cNvPr>
          <p:cNvSpPr txBox="1"/>
          <p:nvPr/>
        </p:nvSpPr>
        <p:spPr>
          <a:xfrm>
            <a:off x="323747" y="412955"/>
            <a:ext cx="4404852" cy="707886"/>
          </a:xfrm>
          <a:prstGeom prst="rect">
            <a:avLst/>
          </a:prstGeom>
          <a:noFill/>
        </p:spPr>
        <p:txBody>
          <a:bodyPr wrap="square" rtlCol="0">
            <a:spAutoFit/>
          </a:bodyPr>
          <a:lstStyle/>
          <a:p>
            <a:r>
              <a:rPr lang="en-US" sz="4000" dirty="0"/>
              <a:t>BOX DETECTION</a:t>
            </a:r>
          </a:p>
        </p:txBody>
      </p:sp>
      <p:pic>
        <p:nvPicPr>
          <p:cNvPr id="5" name="Picture 4" descr="A close-up of a black electronic device&#10;&#10;AI-generated content may be incorrect.">
            <a:extLst>
              <a:ext uri="{FF2B5EF4-FFF2-40B4-BE49-F238E27FC236}">
                <a16:creationId xmlns:a16="http://schemas.microsoft.com/office/drawing/2014/main" id="{36491837-505B-6FDC-69BB-BD5506B079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0709" y="565941"/>
            <a:ext cx="1892831" cy="1892831"/>
          </a:xfrm>
          <a:prstGeom prst="rect">
            <a:avLst/>
          </a:prstGeom>
        </p:spPr>
      </p:pic>
      <p:pic>
        <p:nvPicPr>
          <p:cNvPr id="8" name="Picture 7" descr="A close-up of a blue circuit board&#10;&#10;AI-generated content may be incorrect.">
            <a:extLst>
              <a:ext uri="{FF2B5EF4-FFF2-40B4-BE49-F238E27FC236}">
                <a16:creationId xmlns:a16="http://schemas.microsoft.com/office/drawing/2014/main" id="{006CD344-0BB0-81A7-6AF2-F99825BC5A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0709" y="3610893"/>
            <a:ext cx="1892831" cy="1892831"/>
          </a:xfrm>
          <a:prstGeom prst="rect">
            <a:avLst/>
          </a:prstGeom>
        </p:spPr>
      </p:pic>
      <p:sp>
        <p:nvSpPr>
          <p:cNvPr id="9" name="TextBox 8">
            <a:extLst>
              <a:ext uri="{FF2B5EF4-FFF2-40B4-BE49-F238E27FC236}">
                <a16:creationId xmlns:a16="http://schemas.microsoft.com/office/drawing/2014/main" id="{944160F5-8D24-0AB7-C7AE-A1C0B66F1312}"/>
              </a:ext>
            </a:extLst>
          </p:cNvPr>
          <p:cNvSpPr txBox="1"/>
          <p:nvPr/>
        </p:nvSpPr>
        <p:spPr>
          <a:xfrm>
            <a:off x="9070706" y="2544093"/>
            <a:ext cx="1892831" cy="461665"/>
          </a:xfrm>
          <a:prstGeom prst="rect">
            <a:avLst/>
          </a:prstGeom>
          <a:noFill/>
        </p:spPr>
        <p:txBody>
          <a:bodyPr wrap="square" rtlCol="0">
            <a:spAutoFit/>
          </a:bodyPr>
          <a:lstStyle/>
          <a:p>
            <a:pPr algn="ctr"/>
            <a:r>
              <a:rPr lang="fr-FR" sz="1200" dirty="0"/>
              <a:t>TCS34725 RGB </a:t>
            </a:r>
            <a:r>
              <a:rPr lang="fr-FR" sz="1200" dirty="0" err="1"/>
              <a:t>colour</a:t>
            </a:r>
            <a:r>
              <a:rPr lang="fr-FR" sz="1200" dirty="0"/>
              <a:t> Recognition </a:t>
            </a:r>
            <a:r>
              <a:rPr lang="fr-FR" sz="1200" dirty="0" err="1"/>
              <a:t>sensor</a:t>
            </a:r>
            <a:endParaRPr lang="en-US" sz="1200" dirty="0"/>
          </a:p>
        </p:txBody>
      </p:sp>
      <p:sp>
        <p:nvSpPr>
          <p:cNvPr id="10" name="TextBox 9">
            <a:extLst>
              <a:ext uri="{FF2B5EF4-FFF2-40B4-BE49-F238E27FC236}">
                <a16:creationId xmlns:a16="http://schemas.microsoft.com/office/drawing/2014/main" id="{5946C803-0615-CAAE-79DA-E06B4852BD0D}"/>
              </a:ext>
            </a:extLst>
          </p:cNvPr>
          <p:cNvSpPr txBox="1"/>
          <p:nvPr/>
        </p:nvSpPr>
        <p:spPr>
          <a:xfrm>
            <a:off x="9070707" y="5525071"/>
            <a:ext cx="1892831" cy="738664"/>
          </a:xfrm>
          <a:prstGeom prst="rect">
            <a:avLst/>
          </a:prstGeom>
          <a:noFill/>
        </p:spPr>
        <p:txBody>
          <a:bodyPr wrap="square" rtlCol="0">
            <a:spAutoFit/>
          </a:bodyPr>
          <a:lstStyle/>
          <a:p>
            <a:pPr algn="ctr"/>
            <a:r>
              <a:rPr lang="en-US" sz="1400" dirty="0"/>
              <a:t>HY-SRF05 HC-SR05 5Pin Ultrasonic Sensor Module </a:t>
            </a:r>
          </a:p>
        </p:txBody>
      </p:sp>
      <p:sp>
        <p:nvSpPr>
          <p:cNvPr id="13" name="TextBox 12">
            <a:extLst>
              <a:ext uri="{FF2B5EF4-FFF2-40B4-BE49-F238E27FC236}">
                <a16:creationId xmlns:a16="http://schemas.microsoft.com/office/drawing/2014/main" id="{02975B14-EB87-5972-31D1-5230A151687F}"/>
              </a:ext>
            </a:extLst>
          </p:cNvPr>
          <p:cNvSpPr txBox="1"/>
          <p:nvPr/>
        </p:nvSpPr>
        <p:spPr>
          <a:xfrm>
            <a:off x="323747" y="1376515"/>
            <a:ext cx="8171324" cy="5632311"/>
          </a:xfrm>
          <a:prstGeom prst="rect">
            <a:avLst/>
          </a:prstGeom>
          <a:noFill/>
        </p:spPr>
        <p:txBody>
          <a:bodyPr wrap="square" rtlCol="0">
            <a:spAutoFit/>
          </a:bodyPr>
          <a:lstStyle/>
          <a:p>
            <a:pPr marL="285750" indent="-285750">
              <a:buFont typeface="Arial" panose="020B0604020202020204" pitchFamily="34" charset="0"/>
              <a:buChar char="•"/>
            </a:pPr>
            <a:r>
              <a:rPr lang="en-US" dirty="0"/>
              <a:t>We chose the </a:t>
            </a:r>
            <a:r>
              <a:rPr lang="en-US" dirty="0">
                <a:highlight>
                  <a:srgbClr val="808000"/>
                </a:highlight>
              </a:rPr>
              <a:t>HY-SRF05 Ultrasonic Sensor</a:t>
            </a:r>
            <a:r>
              <a:rPr lang="en-US" dirty="0"/>
              <a:t> for obstacle and box detection and to differentiate between the boxes and the obstacles </a:t>
            </a:r>
            <a:r>
              <a:rPr lang="fr-FR" dirty="0">
                <a:highlight>
                  <a:srgbClr val="808000"/>
                </a:highlight>
              </a:rPr>
              <a:t>TCS34725 RGB </a:t>
            </a:r>
            <a:r>
              <a:rPr lang="fr-FR" dirty="0" err="1">
                <a:highlight>
                  <a:srgbClr val="808000"/>
                </a:highlight>
              </a:rPr>
              <a:t>Colour</a:t>
            </a:r>
            <a:r>
              <a:rPr lang="fr-FR" dirty="0">
                <a:highlight>
                  <a:srgbClr val="808000"/>
                </a:highlight>
              </a:rPr>
              <a:t> Recognition </a:t>
            </a:r>
            <a:r>
              <a:rPr lang="fr-FR" dirty="0" err="1">
                <a:highlight>
                  <a:srgbClr val="808000"/>
                </a:highlight>
              </a:rPr>
              <a:t>Sensor</a:t>
            </a:r>
            <a:r>
              <a:rPr lang="fr-FR" dirty="0"/>
              <a:t> </a:t>
            </a:r>
            <a:r>
              <a:rPr lang="fr-FR" dirty="0" err="1"/>
              <a:t>is</a:t>
            </a:r>
            <a:r>
              <a:rPr lang="fr-FR" dirty="0"/>
              <a:t> </a:t>
            </a:r>
            <a:r>
              <a:rPr lang="fr-FR" dirty="0" err="1"/>
              <a:t>used</a:t>
            </a:r>
            <a:r>
              <a:rPr lang="fr-FR" dirty="0"/>
              <a:t> as boxes have </a:t>
            </a:r>
            <a:r>
              <a:rPr lang="fr-FR" dirty="0" err="1"/>
              <a:t>their</a:t>
            </a:r>
            <a:r>
              <a:rPr lang="fr-FR" dirty="0"/>
              <a:t> </a:t>
            </a:r>
            <a:r>
              <a:rPr lang="fr-FR" dirty="0" err="1"/>
              <a:t>specific</a:t>
            </a:r>
            <a:r>
              <a:rPr lang="fr-FR" dirty="0"/>
              <a:t> RGB </a:t>
            </a:r>
            <a:r>
              <a:rPr lang="fr-FR" dirty="0" err="1"/>
              <a:t>colours</a:t>
            </a:r>
            <a:r>
              <a:rPr lang="fr-FR" dirty="0"/>
              <a:t>.</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en-US" dirty="0"/>
              <a:t>The HY-SRF05 Ultrasonic Sensor can measure distances from about </a:t>
            </a:r>
            <a:r>
              <a:rPr lang="en-US" b="1" dirty="0"/>
              <a:t>2 cm up to 4–5 meters</a:t>
            </a:r>
            <a:r>
              <a:rPr lang="en-US" dirty="0"/>
              <a:t> with good accuracy. Compared to the common HC-SR04 sensor, the HY-SRF05 has </a:t>
            </a:r>
            <a:r>
              <a:rPr lang="en-US" b="1" dirty="0"/>
              <a:t>better accuracy and stability</a:t>
            </a:r>
            <a:r>
              <a:rPr lang="en-US" dirty="0"/>
              <a:t> in distance measurement. So, it provides accurate distance measurements. Also it is easy to interface with Arduino. Since it uses </a:t>
            </a:r>
            <a:r>
              <a:rPr lang="en-US" b="1" dirty="0"/>
              <a:t>ultrasonic sound waves</a:t>
            </a:r>
            <a:r>
              <a:rPr lang="en-US" dirty="0"/>
              <a:t>, it works equally well in dark or bright environments where optical sensors might fail.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TCS34725 has a high-quality </a:t>
            </a:r>
            <a:r>
              <a:rPr lang="en-US" b="1" dirty="0"/>
              <a:t>RGB and clear light sensing photodiode array</a:t>
            </a:r>
            <a:r>
              <a:rPr lang="en-US" dirty="0"/>
              <a:t>. The sensor includes an </a:t>
            </a:r>
            <a:r>
              <a:rPr lang="en-US" b="1" dirty="0"/>
              <a:t>IR blocking filter</a:t>
            </a:r>
            <a:r>
              <a:rPr lang="en-US" dirty="0"/>
              <a:t>, which removes infrared light interference. This makes color detection more accurate even under different lighting conditions. This also is well supported with Arduino libraries.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7975373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47F1D-3EB7-F87B-37F6-14414C72C7D4}"/>
            </a:ext>
          </a:extLst>
        </p:cNvPr>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A6309B53-61FD-0579-061F-08BF1ACFAFA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6A6A817-D2DD-7FBC-C8B7-774751CEC9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9D5365D-FA46-1498-F3CE-EF9B5A437D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9F4FC4D-BBE2-BCC8-AF61-DA68BE2F88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62A20C9-DB49-1F71-0BC6-D69797E116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35" name="Rectangle 34">
            <a:extLst>
              <a:ext uri="{FF2B5EF4-FFF2-40B4-BE49-F238E27FC236}">
                <a16:creationId xmlns:a16="http://schemas.microsoft.com/office/drawing/2014/main" id="{8F37DDC1-C9A2-6112-8FC2-8494CC19A6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6" name="Picture 5" descr="Solo journey">
            <a:extLst>
              <a:ext uri="{FF2B5EF4-FFF2-40B4-BE49-F238E27FC236}">
                <a16:creationId xmlns:a16="http://schemas.microsoft.com/office/drawing/2014/main" id="{AF1D816D-3B15-6FDE-512F-A1AAE28E3CDE}"/>
              </a:ext>
            </a:extLst>
          </p:cNvPr>
          <p:cNvPicPr>
            <a:picLocks noChangeAspect="1"/>
          </p:cNvPicPr>
          <p:nvPr/>
        </p:nvPicPr>
        <p:blipFill>
          <a:blip r:embed="rId2">
            <a:alphaModFix amt="40000"/>
          </a:blip>
          <a:srcRect t="16151" b="8849"/>
          <a:stretch>
            <a:fillRect/>
          </a:stretch>
        </p:blipFill>
        <p:spPr>
          <a:xfrm>
            <a:off x="-3175" y="10"/>
            <a:ext cx="12192000" cy="6857990"/>
          </a:xfrm>
          <a:prstGeom prst="rect">
            <a:avLst/>
          </a:prstGeom>
        </p:spPr>
      </p:pic>
      <p:sp>
        <p:nvSpPr>
          <p:cNvPr id="3" name="TextBox 2">
            <a:extLst>
              <a:ext uri="{FF2B5EF4-FFF2-40B4-BE49-F238E27FC236}">
                <a16:creationId xmlns:a16="http://schemas.microsoft.com/office/drawing/2014/main" id="{02BC5520-3A5A-92C1-A05D-EE8BFF1EC4F7}"/>
              </a:ext>
            </a:extLst>
          </p:cNvPr>
          <p:cNvSpPr txBox="1"/>
          <p:nvPr/>
        </p:nvSpPr>
        <p:spPr>
          <a:xfrm>
            <a:off x="323747" y="412955"/>
            <a:ext cx="7129105" cy="707886"/>
          </a:xfrm>
          <a:prstGeom prst="rect">
            <a:avLst/>
          </a:prstGeom>
          <a:noFill/>
        </p:spPr>
        <p:txBody>
          <a:bodyPr wrap="square" rtlCol="0">
            <a:spAutoFit/>
          </a:bodyPr>
          <a:lstStyle/>
          <a:p>
            <a:r>
              <a:rPr lang="en-US" sz="4000" dirty="0"/>
              <a:t>BOX PICKING &amp; PLACING</a:t>
            </a:r>
          </a:p>
        </p:txBody>
      </p:sp>
      <p:pic>
        <p:nvPicPr>
          <p:cNvPr id="7" name="Picture 6" descr="A small electric motor with wires and screws&#10;&#10;AI-generated content may be incorrect.">
            <a:extLst>
              <a:ext uri="{FF2B5EF4-FFF2-40B4-BE49-F238E27FC236}">
                <a16:creationId xmlns:a16="http://schemas.microsoft.com/office/drawing/2014/main" id="{53579CE6-11AD-37FC-4376-41C9345BBF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2495" y="1642603"/>
            <a:ext cx="1892831" cy="1892831"/>
          </a:xfrm>
          <a:prstGeom prst="rect">
            <a:avLst/>
          </a:prstGeom>
        </p:spPr>
      </p:pic>
      <p:sp>
        <p:nvSpPr>
          <p:cNvPr id="11" name="TextBox 10">
            <a:extLst>
              <a:ext uri="{FF2B5EF4-FFF2-40B4-BE49-F238E27FC236}">
                <a16:creationId xmlns:a16="http://schemas.microsoft.com/office/drawing/2014/main" id="{9DEF3E31-26BC-699E-BDF4-9479AB764A2A}"/>
              </a:ext>
            </a:extLst>
          </p:cNvPr>
          <p:cNvSpPr txBox="1"/>
          <p:nvPr/>
        </p:nvSpPr>
        <p:spPr>
          <a:xfrm>
            <a:off x="9134123" y="3672489"/>
            <a:ext cx="2369574" cy="461665"/>
          </a:xfrm>
          <a:prstGeom prst="rect">
            <a:avLst/>
          </a:prstGeom>
          <a:noFill/>
        </p:spPr>
        <p:txBody>
          <a:bodyPr wrap="square" rtlCol="0">
            <a:spAutoFit/>
          </a:bodyPr>
          <a:lstStyle/>
          <a:p>
            <a:pPr algn="ctr"/>
            <a:r>
              <a:rPr lang="en-US" sz="1200" dirty="0"/>
              <a:t>Servo Motor Metal Wheel MG90</a:t>
            </a:r>
          </a:p>
        </p:txBody>
      </p:sp>
      <p:sp>
        <p:nvSpPr>
          <p:cNvPr id="14" name="TextBox 13">
            <a:extLst>
              <a:ext uri="{FF2B5EF4-FFF2-40B4-BE49-F238E27FC236}">
                <a16:creationId xmlns:a16="http://schemas.microsoft.com/office/drawing/2014/main" id="{1DF01BA5-C8C3-C6CF-1663-70FD10A45172}"/>
              </a:ext>
            </a:extLst>
          </p:cNvPr>
          <p:cNvSpPr txBox="1"/>
          <p:nvPr/>
        </p:nvSpPr>
        <p:spPr>
          <a:xfrm>
            <a:off x="271931" y="1274945"/>
            <a:ext cx="8711379" cy="646331"/>
          </a:xfrm>
          <a:prstGeom prst="rect">
            <a:avLst/>
          </a:prstGeom>
          <a:noFill/>
        </p:spPr>
        <p:txBody>
          <a:bodyPr wrap="square" rtlCol="0">
            <a:spAutoFit/>
          </a:bodyPr>
          <a:lstStyle/>
          <a:p>
            <a:pPr marL="285750" indent="-285750">
              <a:buFont typeface="Arial" panose="020B0604020202020204" pitchFamily="34" charset="0"/>
              <a:buChar char="•"/>
            </a:pPr>
            <a:r>
              <a:rPr lang="en-US" dirty="0"/>
              <a:t>The boxes are picked from robot arm mechanism powered by MG90 Metal Wheel Servo Motor.</a:t>
            </a:r>
          </a:p>
        </p:txBody>
      </p:sp>
      <p:sp>
        <p:nvSpPr>
          <p:cNvPr id="15" name="TextBox 14">
            <a:extLst>
              <a:ext uri="{FF2B5EF4-FFF2-40B4-BE49-F238E27FC236}">
                <a16:creationId xmlns:a16="http://schemas.microsoft.com/office/drawing/2014/main" id="{0B8B52E8-EEB9-3604-72C9-6438D58BAB07}"/>
              </a:ext>
            </a:extLst>
          </p:cNvPr>
          <p:cNvSpPr txBox="1"/>
          <p:nvPr/>
        </p:nvSpPr>
        <p:spPr>
          <a:xfrm>
            <a:off x="115708" y="2134166"/>
            <a:ext cx="8977569" cy="523220"/>
          </a:xfrm>
          <a:prstGeom prst="rect">
            <a:avLst/>
          </a:prstGeom>
          <a:noFill/>
        </p:spPr>
        <p:txBody>
          <a:bodyPr wrap="square" rtlCol="0">
            <a:spAutoFit/>
          </a:bodyPr>
          <a:lstStyle/>
          <a:p>
            <a:r>
              <a:rPr lang="en-US" sz="2800" i="1" dirty="0"/>
              <a:t>Why We Chose the MG90 Metal Gear Servo Motor</a:t>
            </a:r>
          </a:p>
        </p:txBody>
      </p:sp>
      <p:sp>
        <p:nvSpPr>
          <p:cNvPr id="16" name="TextBox 15">
            <a:extLst>
              <a:ext uri="{FF2B5EF4-FFF2-40B4-BE49-F238E27FC236}">
                <a16:creationId xmlns:a16="http://schemas.microsoft.com/office/drawing/2014/main" id="{07716871-5364-AFE5-0AAE-CAFC963E5E23}"/>
              </a:ext>
            </a:extLst>
          </p:cNvPr>
          <p:cNvSpPr txBox="1"/>
          <p:nvPr/>
        </p:nvSpPr>
        <p:spPr>
          <a:xfrm>
            <a:off x="393290" y="2781299"/>
            <a:ext cx="8828392"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t>High Torque for Small Size</a:t>
            </a:r>
          </a:p>
          <a:p>
            <a:pPr marL="742950" lvl="1" indent="-285750">
              <a:buFont typeface="Arial" panose="020B0604020202020204" pitchFamily="34" charset="0"/>
              <a:buChar char="•"/>
            </a:pPr>
            <a:r>
              <a:rPr lang="en-US" dirty="0"/>
              <a:t>The MG90 provides around 2.2 </a:t>
            </a:r>
            <a:r>
              <a:rPr lang="en-US" dirty="0" err="1"/>
              <a:t>kgcm</a:t>
            </a:r>
            <a:r>
              <a:rPr lang="en-US" dirty="0"/>
              <a:t> torque, which is enough to move lightweight robotic arms and small payloads.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Metal Gears for Durability</a:t>
            </a:r>
          </a:p>
          <a:p>
            <a:pPr marL="742950" lvl="1" indent="-285750">
              <a:buFont typeface="Arial" panose="020B0604020202020204" pitchFamily="34" charset="0"/>
              <a:buChar char="•"/>
            </a:pPr>
            <a:r>
              <a:rPr lang="en-US" dirty="0"/>
              <a:t>Unlike plastic gear servos (e.g., SG90), the MG90 uses </a:t>
            </a:r>
            <a:r>
              <a:rPr lang="en-US" b="1" dirty="0"/>
              <a:t>metal gears</a:t>
            </a:r>
            <a:r>
              <a:rPr lang="en-US" dirty="0"/>
              <a:t>, making it more durable. This makes it suitable for repeated arm movements without gear damage.</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Arduino Friendly</a:t>
            </a:r>
          </a:p>
          <a:p>
            <a:pPr marL="742950" lvl="1" indent="-285750">
              <a:buFont typeface="Arial" panose="020B0604020202020204" pitchFamily="34" charset="0"/>
              <a:buChar char="•"/>
            </a:pPr>
            <a:r>
              <a:rPr lang="en-US" dirty="0"/>
              <a:t>Works easily with Arduino PWM libraries.</a:t>
            </a:r>
          </a:p>
        </p:txBody>
      </p:sp>
    </p:spTree>
    <p:extLst>
      <p:ext uri="{BB962C8B-B14F-4D97-AF65-F5344CB8AC3E}">
        <p14:creationId xmlns:p14="http://schemas.microsoft.com/office/powerpoint/2010/main" val="2600109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500" fill="hold"/>
                                        <p:tgtEl>
                                          <p:spTgt spid="15"/>
                                        </p:tgtEl>
                                        <p:attrNameLst>
                                          <p:attrName>ppt_w</p:attrName>
                                        </p:attrNameLst>
                                      </p:cBhvr>
                                      <p:tavLst>
                                        <p:tav tm="0">
                                          <p:val>
                                            <p:fltVal val="0"/>
                                          </p:val>
                                        </p:tav>
                                        <p:tav tm="100000">
                                          <p:val>
                                            <p:strVal val="#ppt_w"/>
                                          </p:val>
                                        </p:tav>
                                      </p:tavLst>
                                    </p:anim>
                                    <p:anim calcmode="lin" valueType="num">
                                      <p:cBhvr>
                                        <p:cTn id="32" dur="500" fill="hold"/>
                                        <p:tgtEl>
                                          <p:spTgt spid="15"/>
                                        </p:tgtEl>
                                        <p:attrNameLst>
                                          <p:attrName>ppt_h</p:attrName>
                                        </p:attrNameLst>
                                      </p:cBhvr>
                                      <p:tavLst>
                                        <p:tav tm="0">
                                          <p:val>
                                            <p:fltVal val="0"/>
                                          </p:val>
                                        </p:tav>
                                        <p:tav tm="100000">
                                          <p:val>
                                            <p:strVal val="#ppt_h"/>
                                          </p:val>
                                        </p:tav>
                                      </p:tavLst>
                                    </p:anim>
                                    <p:animEffect transition="in" filter="fade">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p:cTn id="38" dur="1000" fill="hold"/>
                                        <p:tgtEl>
                                          <p:spTgt spid="16"/>
                                        </p:tgtEl>
                                        <p:attrNameLst>
                                          <p:attrName>ppt_w</p:attrName>
                                        </p:attrNameLst>
                                      </p:cBhvr>
                                      <p:tavLst>
                                        <p:tav tm="0">
                                          <p:val>
                                            <p:fltVal val="0"/>
                                          </p:val>
                                        </p:tav>
                                        <p:tav tm="100000">
                                          <p:val>
                                            <p:strVal val="#ppt_w"/>
                                          </p:val>
                                        </p:tav>
                                      </p:tavLst>
                                    </p:anim>
                                    <p:anim calcmode="lin" valueType="num">
                                      <p:cBhvr>
                                        <p:cTn id="39" dur="1000" fill="hold"/>
                                        <p:tgtEl>
                                          <p:spTgt spid="16"/>
                                        </p:tgtEl>
                                        <p:attrNameLst>
                                          <p:attrName>ppt_h</p:attrName>
                                        </p:attrNameLst>
                                      </p:cBhvr>
                                      <p:tavLst>
                                        <p:tav tm="0">
                                          <p:val>
                                            <p:fltVal val="0"/>
                                          </p:val>
                                        </p:tav>
                                        <p:tav tm="100000">
                                          <p:val>
                                            <p:strVal val="#ppt_h"/>
                                          </p:val>
                                        </p:tav>
                                      </p:tavLst>
                                    </p:anim>
                                    <p:anim calcmode="lin" valueType="num">
                                      <p:cBhvr>
                                        <p:cTn id="40" dur="1000" fill="hold"/>
                                        <p:tgtEl>
                                          <p:spTgt spid="16"/>
                                        </p:tgtEl>
                                        <p:attrNameLst>
                                          <p:attrName>style.rotation</p:attrName>
                                        </p:attrNameLst>
                                      </p:cBhvr>
                                      <p:tavLst>
                                        <p:tav tm="0">
                                          <p:val>
                                            <p:fltVal val="90"/>
                                          </p:val>
                                        </p:tav>
                                        <p:tav tm="100000">
                                          <p:val>
                                            <p:fltVal val="0"/>
                                          </p:val>
                                        </p:tav>
                                      </p:tavLst>
                                    </p:anim>
                                    <p:animEffect transition="in" filter="fade">
                                      <p:cBhvr>
                                        <p:cTn id="41"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4"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20" name="Rectangle 19">
            <a:extLst>
              <a:ext uri="{FF2B5EF4-FFF2-40B4-BE49-F238E27FC236}">
                <a16:creationId xmlns:a16="http://schemas.microsoft.com/office/drawing/2014/main" id="{7A675F33-98AF-4B83-A3BB-0780A231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Smoke pattern on snow">
            <a:extLst>
              <a:ext uri="{FF2B5EF4-FFF2-40B4-BE49-F238E27FC236}">
                <a16:creationId xmlns:a16="http://schemas.microsoft.com/office/drawing/2014/main" id="{15ADE475-B6F2-37EA-3EA0-48E47894F2A1}"/>
              </a:ext>
            </a:extLst>
          </p:cNvPr>
          <p:cNvPicPr>
            <a:picLocks noChangeAspect="1"/>
          </p:cNvPicPr>
          <p:nvPr/>
        </p:nvPicPr>
        <p:blipFill>
          <a:blip r:embed="rId2">
            <a:alphaModFix amt="40000"/>
          </a:blip>
          <a:srcRect t="27684" b="888"/>
          <a:stretch>
            <a:fillRect/>
          </a:stretch>
        </p:blipFill>
        <p:spPr>
          <a:xfrm>
            <a:off x="-3175" y="10"/>
            <a:ext cx="12192000" cy="6857990"/>
          </a:xfrm>
          <a:prstGeom prst="rect">
            <a:avLst/>
          </a:prstGeom>
        </p:spPr>
      </p:pic>
      <p:sp>
        <p:nvSpPr>
          <p:cNvPr id="4" name="TextBox 3">
            <a:extLst>
              <a:ext uri="{FF2B5EF4-FFF2-40B4-BE49-F238E27FC236}">
                <a16:creationId xmlns:a16="http://schemas.microsoft.com/office/drawing/2014/main" id="{69642F2D-B601-AFD6-AC8D-D2C9B85B1081}"/>
              </a:ext>
            </a:extLst>
          </p:cNvPr>
          <p:cNvSpPr txBox="1"/>
          <p:nvPr/>
        </p:nvSpPr>
        <p:spPr>
          <a:xfrm>
            <a:off x="491614" y="32278"/>
            <a:ext cx="7736398" cy="2971801"/>
          </a:xfrm>
          <a:prstGeom prst="rect">
            <a:avLst/>
          </a:prstGeom>
        </p:spPr>
        <p:txBody>
          <a:bodyPr vert="horz" lIns="91440" tIns="45720" rIns="91440" bIns="45720" rtlCol="0" anchor="b">
            <a:normAutofit/>
          </a:bodyPr>
          <a:lstStyle/>
          <a:p>
            <a:pPr>
              <a:spcBef>
                <a:spcPct val="0"/>
              </a:spcBef>
              <a:spcAft>
                <a:spcPts val="600"/>
              </a:spcAft>
            </a:pPr>
            <a:r>
              <a:rPr lang="en-US" sz="4800" cap="all" dirty="0">
                <a:ln w="3175" cmpd="sng">
                  <a:noFill/>
                </a:ln>
                <a:latin typeface="+mj-lt"/>
                <a:ea typeface="+mj-ea"/>
                <a:cs typeface="+mj-cs"/>
              </a:rPr>
              <a:t>Task 2 – The Ramp of  Trials</a:t>
            </a:r>
          </a:p>
        </p:txBody>
      </p:sp>
    </p:spTree>
    <p:extLst>
      <p:ext uri="{BB962C8B-B14F-4D97-AF65-F5344CB8AC3E}">
        <p14:creationId xmlns:p14="http://schemas.microsoft.com/office/powerpoint/2010/main" val="302283437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EAAFB-DBFB-B13A-51CC-65D63B577F4B}"/>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98739365-E9E4-E66D-4849-758DC91D1E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AA79685-1271-3DD9-814F-EA2FDC2810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97F27F5-3ED1-C3AF-DC18-7E0DD097FA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DC50222-57FC-9BEB-C83E-81A491224C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EA3D400-9C5F-90AC-D708-37326F56C6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20" name="Rectangle 19">
            <a:extLst>
              <a:ext uri="{FF2B5EF4-FFF2-40B4-BE49-F238E27FC236}">
                <a16:creationId xmlns:a16="http://schemas.microsoft.com/office/drawing/2014/main" id="{4735DF31-E40D-C061-EA6C-ED9645115C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descr="Smoke pattern on snow">
            <a:extLst>
              <a:ext uri="{FF2B5EF4-FFF2-40B4-BE49-F238E27FC236}">
                <a16:creationId xmlns:a16="http://schemas.microsoft.com/office/drawing/2014/main" id="{2D8D42CF-86E1-3E95-AB94-1C4CE747ADAF}"/>
              </a:ext>
            </a:extLst>
          </p:cNvPr>
          <p:cNvPicPr>
            <a:picLocks noChangeAspect="1"/>
          </p:cNvPicPr>
          <p:nvPr/>
        </p:nvPicPr>
        <p:blipFill>
          <a:blip r:embed="rId2">
            <a:alphaModFix amt="40000"/>
          </a:blip>
          <a:srcRect t="27684" b="888"/>
          <a:stretch>
            <a:fillRect/>
          </a:stretch>
        </p:blipFill>
        <p:spPr>
          <a:xfrm>
            <a:off x="6657" y="8467"/>
            <a:ext cx="12192000" cy="6857990"/>
          </a:xfrm>
          <a:prstGeom prst="rect">
            <a:avLst/>
          </a:prstGeom>
        </p:spPr>
      </p:pic>
      <p:pic>
        <p:nvPicPr>
          <p:cNvPr id="3" name="Picture 2" descr="A diagram of a machine&#10;&#10;AI-generated content may be incorrect.">
            <a:extLst>
              <a:ext uri="{FF2B5EF4-FFF2-40B4-BE49-F238E27FC236}">
                <a16:creationId xmlns:a16="http://schemas.microsoft.com/office/drawing/2014/main" id="{B248040B-7C61-BFF6-0868-581AA0BDFD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4828" y="91545"/>
            <a:ext cx="5059010" cy="3268062"/>
          </a:xfrm>
          <a:prstGeom prst="rect">
            <a:avLst/>
          </a:prstGeom>
        </p:spPr>
      </p:pic>
      <p:sp>
        <p:nvSpPr>
          <p:cNvPr id="4" name="TextBox 3">
            <a:extLst>
              <a:ext uri="{FF2B5EF4-FFF2-40B4-BE49-F238E27FC236}">
                <a16:creationId xmlns:a16="http://schemas.microsoft.com/office/drawing/2014/main" id="{9981B072-41E5-45F3-A6C0-B12541848463}"/>
              </a:ext>
            </a:extLst>
          </p:cNvPr>
          <p:cNvSpPr txBox="1"/>
          <p:nvPr/>
        </p:nvSpPr>
        <p:spPr>
          <a:xfrm>
            <a:off x="353961" y="344128"/>
            <a:ext cx="6038281" cy="6463308"/>
          </a:xfrm>
          <a:prstGeom prst="rect">
            <a:avLst/>
          </a:prstGeom>
          <a:noFill/>
        </p:spPr>
        <p:txBody>
          <a:bodyPr wrap="square" rtlCol="0">
            <a:spAutoFit/>
          </a:bodyPr>
          <a:lstStyle/>
          <a:p>
            <a:pPr marL="285750" indent="-285750">
              <a:buFont typeface="Arial" panose="020B0604020202020204" pitchFamily="34" charset="0"/>
              <a:buChar char="•"/>
            </a:pPr>
            <a:r>
              <a:rPr lang="en-US" dirty="0"/>
              <a:t>In this task the robot will traverse through the broken lines using the IR sensor array until it finds a horizontal line and stop there.</a:t>
            </a:r>
          </a:p>
          <a:p>
            <a:endParaRPr lang="en-US" dirty="0"/>
          </a:p>
          <a:p>
            <a:pPr marL="285750" indent="-285750">
              <a:buFont typeface="Arial" panose="020B0604020202020204" pitchFamily="34" charset="0"/>
              <a:buChar char="•"/>
            </a:pPr>
            <a:r>
              <a:rPr lang="en-US" dirty="0">
                <a:highlight>
                  <a:srgbClr val="800080"/>
                </a:highlight>
              </a:rPr>
              <a:t>Using the closed front arms, it will push the box and fill the gap.</a:t>
            </a:r>
          </a:p>
          <a:p>
            <a:endParaRPr lang="en-US" dirty="0"/>
          </a:p>
          <a:p>
            <a:pPr marL="285750" indent="-285750">
              <a:buFont typeface="Arial" panose="020B0604020202020204" pitchFamily="34" charset="0"/>
              <a:buChar char="•"/>
            </a:pPr>
            <a:r>
              <a:rPr lang="en-US" dirty="0"/>
              <a:t>Then the robot will comeback to the position of the horizontal line.</a:t>
            </a:r>
          </a:p>
          <a:p>
            <a:endParaRPr lang="en-US" dirty="0"/>
          </a:p>
          <a:p>
            <a:pPr marL="285750" indent="-285750">
              <a:buFont typeface="Arial" panose="020B0604020202020204" pitchFamily="34" charset="0"/>
              <a:buChar char="•"/>
            </a:pPr>
            <a:r>
              <a:rPr lang="en-US" dirty="0"/>
              <a:t>After that the robot will traverse back to the starting point of the broken lines following the broken lines.</a:t>
            </a:r>
          </a:p>
          <a:p>
            <a:endParaRPr lang="en-US" dirty="0"/>
          </a:p>
          <a:p>
            <a:pPr marL="285750" indent="-285750">
              <a:buFont typeface="Arial" panose="020B0604020202020204" pitchFamily="34" charset="0"/>
              <a:buChar char="•"/>
            </a:pPr>
            <a:r>
              <a:rPr lang="en-US" dirty="0"/>
              <a:t>Then it will approach the ramp and climb up and down the ramp.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When climbing up, robot arm will be stretched towards the frontside of the robot (towards the ramp) and while climbing down, arm will be stretched towards the backside of the robot to keep the center of the gravity at a better position.</a:t>
            </a:r>
          </a:p>
          <a:p>
            <a:endParaRPr lang="en-US" dirty="0"/>
          </a:p>
        </p:txBody>
      </p:sp>
      <p:sp>
        <p:nvSpPr>
          <p:cNvPr id="7" name="TextBox 6">
            <a:extLst>
              <a:ext uri="{FF2B5EF4-FFF2-40B4-BE49-F238E27FC236}">
                <a16:creationId xmlns:a16="http://schemas.microsoft.com/office/drawing/2014/main" id="{9ECB2969-04D1-D785-407A-A15C7722B787}"/>
              </a:ext>
            </a:extLst>
          </p:cNvPr>
          <p:cNvSpPr txBox="1"/>
          <p:nvPr/>
        </p:nvSpPr>
        <p:spPr>
          <a:xfrm>
            <a:off x="6749378" y="3923735"/>
            <a:ext cx="5186983" cy="1661993"/>
          </a:xfrm>
          <a:prstGeom prst="rect">
            <a:avLst/>
          </a:prstGeom>
          <a:solidFill>
            <a:schemeClr val="accent1">
              <a:lumMod val="50000"/>
            </a:schemeClr>
          </a:solidFill>
          <a:ln>
            <a:noFill/>
          </a:ln>
        </p:spPr>
        <p:txBody>
          <a:bodyPr wrap="square" rtlCol="0">
            <a:spAutoFit/>
          </a:bodyPr>
          <a:lstStyle/>
          <a:p>
            <a:r>
              <a:rPr lang="en-US" sz="2400" i="1" dirty="0"/>
              <a:t>Traversing the broken lines:</a:t>
            </a:r>
          </a:p>
          <a:p>
            <a:pPr algn="r"/>
            <a:endParaRPr lang="en-US" sz="2400" i="1" dirty="0"/>
          </a:p>
          <a:p>
            <a:pPr algn="r"/>
            <a:r>
              <a:rPr lang="en-US" i="1" dirty="0"/>
              <a:t>The robot follow the direction of each line segment until it find the next line segment and then it will adjust the direction again.</a:t>
            </a:r>
          </a:p>
        </p:txBody>
      </p:sp>
    </p:spTree>
    <p:extLst>
      <p:ext uri="{BB962C8B-B14F-4D97-AF65-F5344CB8AC3E}">
        <p14:creationId xmlns:p14="http://schemas.microsoft.com/office/powerpoint/2010/main" val="33449705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7A675F33-98AF-4B83-A3BB-0780A231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utoradiogram on white paper">
            <a:extLst>
              <a:ext uri="{FF2B5EF4-FFF2-40B4-BE49-F238E27FC236}">
                <a16:creationId xmlns:a16="http://schemas.microsoft.com/office/drawing/2014/main" id="{B33D8EA2-D0E1-AE72-F78A-177694910681}"/>
              </a:ext>
            </a:extLst>
          </p:cNvPr>
          <p:cNvPicPr>
            <a:picLocks noChangeAspect="1"/>
          </p:cNvPicPr>
          <p:nvPr/>
        </p:nvPicPr>
        <p:blipFill>
          <a:blip r:embed="rId2">
            <a:alphaModFix amt="40000"/>
          </a:blip>
          <a:srcRect b="25000"/>
          <a:stretch>
            <a:fillRect/>
          </a:stretch>
        </p:blipFill>
        <p:spPr>
          <a:xfrm>
            <a:off x="-3175" y="10"/>
            <a:ext cx="12192000" cy="6857990"/>
          </a:xfrm>
          <a:prstGeom prst="rect">
            <a:avLst/>
          </a:prstGeom>
        </p:spPr>
      </p:pic>
      <p:sp>
        <p:nvSpPr>
          <p:cNvPr id="2" name="Title 1">
            <a:extLst>
              <a:ext uri="{FF2B5EF4-FFF2-40B4-BE49-F238E27FC236}">
                <a16:creationId xmlns:a16="http://schemas.microsoft.com/office/drawing/2014/main" id="{E2014FFA-14BF-A614-CA77-F27AEE3D5F86}"/>
              </a:ext>
            </a:extLst>
          </p:cNvPr>
          <p:cNvSpPr>
            <a:spLocks noGrp="1"/>
          </p:cNvSpPr>
          <p:nvPr>
            <p:ph type="title"/>
          </p:nvPr>
        </p:nvSpPr>
        <p:spPr>
          <a:xfrm>
            <a:off x="684212" y="685799"/>
            <a:ext cx="8001000" cy="2971801"/>
          </a:xfrm>
        </p:spPr>
        <p:txBody>
          <a:bodyPr vert="horz" lIns="91440" tIns="45720" rIns="91440" bIns="45720" rtlCol="0" anchor="b">
            <a:normAutofit/>
          </a:bodyPr>
          <a:lstStyle/>
          <a:p>
            <a:r>
              <a:rPr lang="en-US" sz="4800" dirty="0"/>
              <a:t>Task 3 – the oracle of runes</a:t>
            </a:r>
          </a:p>
        </p:txBody>
      </p:sp>
    </p:spTree>
    <p:extLst>
      <p:ext uri="{BB962C8B-B14F-4D97-AF65-F5344CB8AC3E}">
        <p14:creationId xmlns:p14="http://schemas.microsoft.com/office/powerpoint/2010/main" val="254830714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9F4AC-4BA9-9E50-9811-3B2C81B80A4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D6992CC-4DD4-CF7F-AFA4-E5606FCAF1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F72B7DC-BAB2-A0E0-F933-3795911931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717AD41-C0C3-B00A-4F00-FFF530CE0D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3F30030-1DF2-59B3-E6AA-64344C9BD0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B1B0EE7-B40A-EBB5-C781-A357571E61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2414AA93-3E08-5ED2-E334-C3F63BBB2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Picture 3" descr="Autoradiogram on white paper">
            <a:extLst>
              <a:ext uri="{FF2B5EF4-FFF2-40B4-BE49-F238E27FC236}">
                <a16:creationId xmlns:a16="http://schemas.microsoft.com/office/drawing/2014/main" id="{EB7D8B51-4C38-8210-2F8C-974BC6B1C43F}"/>
              </a:ext>
            </a:extLst>
          </p:cNvPr>
          <p:cNvPicPr>
            <a:picLocks noChangeAspect="1"/>
          </p:cNvPicPr>
          <p:nvPr/>
        </p:nvPicPr>
        <p:blipFill>
          <a:blip r:embed="rId2">
            <a:alphaModFix amt="40000"/>
          </a:blip>
          <a:srcRect b="25000"/>
          <a:stretch>
            <a:fillRect/>
          </a:stretch>
        </p:blipFill>
        <p:spPr>
          <a:xfrm>
            <a:off x="-3175" y="10"/>
            <a:ext cx="12192000" cy="6857990"/>
          </a:xfrm>
          <a:prstGeom prst="rect">
            <a:avLst/>
          </a:prstGeom>
        </p:spPr>
      </p:pic>
      <p:pic>
        <p:nvPicPr>
          <p:cNvPr id="5" name="Picture 4" descr="A white rectangular object with red text">
            <a:extLst>
              <a:ext uri="{FF2B5EF4-FFF2-40B4-BE49-F238E27FC236}">
                <a16:creationId xmlns:a16="http://schemas.microsoft.com/office/drawing/2014/main" id="{EB71272F-DFD3-9298-2530-C6348A0749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3419" y="91545"/>
            <a:ext cx="5528100" cy="2258747"/>
          </a:xfrm>
          <a:prstGeom prst="rect">
            <a:avLst/>
          </a:prstGeom>
        </p:spPr>
      </p:pic>
      <p:sp>
        <p:nvSpPr>
          <p:cNvPr id="2" name="TextBox 1">
            <a:extLst>
              <a:ext uri="{FF2B5EF4-FFF2-40B4-BE49-F238E27FC236}">
                <a16:creationId xmlns:a16="http://schemas.microsoft.com/office/drawing/2014/main" id="{90F4DA64-C223-2658-153B-4433F52CDC41}"/>
              </a:ext>
            </a:extLst>
          </p:cNvPr>
          <p:cNvSpPr txBox="1"/>
          <p:nvPr/>
        </p:nvSpPr>
        <p:spPr>
          <a:xfrm>
            <a:off x="467753" y="1904353"/>
            <a:ext cx="5810865"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Then it will decode the barcode and read the number and divide it by 3 and take the remainder.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will tell us the number of spheres we have to collect which will be one of 2,3 or 4 spheres.</a:t>
            </a:r>
          </a:p>
        </p:txBody>
      </p:sp>
      <p:sp>
        <p:nvSpPr>
          <p:cNvPr id="3" name="TextBox 2">
            <a:extLst>
              <a:ext uri="{FF2B5EF4-FFF2-40B4-BE49-F238E27FC236}">
                <a16:creationId xmlns:a16="http://schemas.microsoft.com/office/drawing/2014/main" id="{0FF17B06-64D5-8BFE-E67F-E1EE29DEB7AD}"/>
              </a:ext>
            </a:extLst>
          </p:cNvPr>
          <p:cNvSpPr txBox="1"/>
          <p:nvPr/>
        </p:nvSpPr>
        <p:spPr>
          <a:xfrm>
            <a:off x="483522" y="3780376"/>
            <a:ext cx="11218606" cy="646331"/>
          </a:xfrm>
          <a:prstGeom prst="rect">
            <a:avLst/>
          </a:prstGeom>
          <a:solidFill>
            <a:schemeClr val="accent2">
              <a:lumMod val="50000"/>
            </a:schemeClr>
          </a:solidFill>
        </p:spPr>
        <p:txBody>
          <a:bodyPr wrap="square" rtlCol="0">
            <a:spAutoFit/>
          </a:bodyPr>
          <a:lstStyle/>
          <a:p>
            <a:pPr marL="285750" indent="-285750">
              <a:buFont typeface="Arial" panose="020B0604020202020204" pitchFamily="34" charset="0"/>
              <a:buChar char="•"/>
            </a:pPr>
            <a:r>
              <a:rPr lang="en-US" dirty="0"/>
              <a:t>The robot will have 4 indicating LEDs to light up accordingly to show the number of spheres it should collect.</a:t>
            </a:r>
          </a:p>
        </p:txBody>
      </p:sp>
      <p:graphicFrame>
        <p:nvGraphicFramePr>
          <p:cNvPr id="6" name="Table 5">
            <a:extLst>
              <a:ext uri="{FF2B5EF4-FFF2-40B4-BE49-F238E27FC236}">
                <a16:creationId xmlns:a16="http://schemas.microsoft.com/office/drawing/2014/main" id="{1EE664B1-3CEE-5A6B-3622-AD27776AF3D2}"/>
              </a:ext>
            </a:extLst>
          </p:cNvPr>
          <p:cNvGraphicFramePr>
            <a:graphicFrameLocks noGrp="1"/>
          </p:cNvGraphicFramePr>
          <p:nvPr>
            <p:extLst>
              <p:ext uri="{D42A27DB-BD31-4B8C-83A1-F6EECF244321}">
                <p14:modId xmlns:p14="http://schemas.microsoft.com/office/powerpoint/2010/main" val="552955926"/>
              </p:ext>
            </p:extLst>
          </p:nvPr>
        </p:nvGraphicFramePr>
        <p:xfrm>
          <a:off x="635819" y="4644976"/>
          <a:ext cx="10700775" cy="1834428"/>
        </p:xfrm>
        <a:graphic>
          <a:graphicData uri="http://schemas.openxmlformats.org/drawingml/2006/table">
            <a:tbl>
              <a:tblPr firstRow="1" bandRow="1">
                <a:tableStyleId>{5C22544A-7EE6-4342-B048-85BDC9FD1C3A}</a:tableStyleId>
              </a:tblPr>
              <a:tblGrid>
                <a:gridCol w="3566925">
                  <a:extLst>
                    <a:ext uri="{9D8B030D-6E8A-4147-A177-3AD203B41FA5}">
                      <a16:colId xmlns:a16="http://schemas.microsoft.com/office/drawing/2014/main" val="1672534462"/>
                    </a:ext>
                  </a:extLst>
                </a:gridCol>
                <a:gridCol w="3566925">
                  <a:extLst>
                    <a:ext uri="{9D8B030D-6E8A-4147-A177-3AD203B41FA5}">
                      <a16:colId xmlns:a16="http://schemas.microsoft.com/office/drawing/2014/main" val="823916996"/>
                    </a:ext>
                  </a:extLst>
                </a:gridCol>
                <a:gridCol w="3566925">
                  <a:extLst>
                    <a:ext uri="{9D8B030D-6E8A-4147-A177-3AD203B41FA5}">
                      <a16:colId xmlns:a16="http://schemas.microsoft.com/office/drawing/2014/main" val="1707701013"/>
                    </a:ext>
                  </a:extLst>
                </a:gridCol>
              </a:tblGrid>
              <a:tr h="458607">
                <a:tc>
                  <a:txBody>
                    <a:bodyPr/>
                    <a:lstStyle/>
                    <a:p>
                      <a:pPr algn="ctr"/>
                      <a:r>
                        <a:rPr lang="en-US" dirty="0"/>
                        <a:t>Remainder</a:t>
                      </a:r>
                    </a:p>
                  </a:txBody>
                  <a:tcPr/>
                </a:tc>
                <a:tc>
                  <a:txBody>
                    <a:bodyPr/>
                    <a:lstStyle/>
                    <a:p>
                      <a:pPr algn="ctr"/>
                      <a:r>
                        <a:rPr lang="en-US" dirty="0"/>
                        <a:t>No. of Spheres</a:t>
                      </a:r>
                    </a:p>
                  </a:txBody>
                  <a:tcPr/>
                </a:tc>
                <a:tc>
                  <a:txBody>
                    <a:bodyPr/>
                    <a:lstStyle/>
                    <a:p>
                      <a:pPr algn="ctr"/>
                      <a:r>
                        <a:rPr lang="en-US" dirty="0"/>
                        <a:t>No. of LEDs Turned on</a:t>
                      </a:r>
                    </a:p>
                  </a:txBody>
                  <a:tcPr/>
                </a:tc>
                <a:extLst>
                  <a:ext uri="{0D108BD9-81ED-4DB2-BD59-A6C34878D82A}">
                    <a16:rowId xmlns:a16="http://schemas.microsoft.com/office/drawing/2014/main" val="2063306677"/>
                  </a:ext>
                </a:extLst>
              </a:tr>
              <a:tr h="458607">
                <a:tc>
                  <a:txBody>
                    <a:bodyPr/>
                    <a:lstStyle/>
                    <a:p>
                      <a:pPr algn="ctr"/>
                      <a:r>
                        <a:rPr lang="en-US" dirty="0"/>
                        <a:t>0</a:t>
                      </a:r>
                    </a:p>
                  </a:txBody>
                  <a:tcPr/>
                </a:tc>
                <a:tc>
                  <a:txBody>
                    <a:bodyPr/>
                    <a:lstStyle/>
                    <a:p>
                      <a:pPr algn="ctr"/>
                      <a:r>
                        <a:rPr lang="en-US" dirty="0"/>
                        <a:t>2</a:t>
                      </a:r>
                    </a:p>
                  </a:txBody>
                  <a:tcPr/>
                </a:tc>
                <a:tc>
                  <a:txBody>
                    <a:bodyPr/>
                    <a:lstStyle/>
                    <a:p>
                      <a:pPr algn="ctr"/>
                      <a:r>
                        <a:rPr lang="en-US" dirty="0"/>
                        <a:t>2</a:t>
                      </a:r>
                    </a:p>
                  </a:txBody>
                  <a:tcPr/>
                </a:tc>
                <a:extLst>
                  <a:ext uri="{0D108BD9-81ED-4DB2-BD59-A6C34878D82A}">
                    <a16:rowId xmlns:a16="http://schemas.microsoft.com/office/drawing/2014/main" val="3588733342"/>
                  </a:ext>
                </a:extLst>
              </a:tr>
              <a:tr h="458607">
                <a:tc>
                  <a:txBody>
                    <a:bodyPr/>
                    <a:lstStyle/>
                    <a:p>
                      <a:pPr algn="ctr"/>
                      <a:r>
                        <a:rPr lang="en-US" dirty="0"/>
                        <a:t>1</a:t>
                      </a:r>
                    </a:p>
                  </a:txBody>
                  <a:tcPr/>
                </a:tc>
                <a:tc>
                  <a:txBody>
                    <a:bodyPr/>
                    <a:lstStyle/>
                    <a:p>
                      <a:pPr algn="ctr"/>
                      <a:r>
                        <a:rPr lang="en-US" dirty="0"/>
                        <a:t>3</a:t>
                      </a:r>
                    </a:p>
                  </a:txBody>
                  <a:tcPr/>
                </a:tc>
                <a:tc>
                  <a:txBody>
                    <a:bodyPr/>
                    <a:lstStyle/>
                    <a:p>
                      <a:pPr algn="ctr"/>
                      <a:r>
                        <a:rPr lang="en-US" dirty="0"/>
                        <a:t>3</a:t>
                      </a:r>
                    </a:p>
                  </a:txBody>
                  <a:tcPr/>
                </a:tc>
                <a:extLst>
                  <a:ext uri="{0D108BD9-81ED-4DB2-BD59-A6C34878D82A}">
                    <a16:rowId xmlns:a16="http://schemas.microsoft.com/office/drawing/2014/main" val="3610574713"/>
                  </a:ext>
                </a:extLst>
              </a:tr>
              <a:tr h="458607">
                <a:tc>
                  <a:txBody>
                    <a:bodyPr/>
                    <a:lstStyle/>
                    <a:p>
                      <a:pPr algn="ctr"/>
                      <a:r>
                        <a:rPr lang="en-US" dirty="0"/>
                        <a:t>2</a:t>
                      </a:r>
                    </a:p>
                  </a:txBody>
                  <a:tcPr/>
                </a:tc>
                <a:tc>
                  <a:txBody>
                    <a:bodyPr/>
                    <a:lstStyle/>
                    <a:p>
                      <a:pPr algn="ctr"/>
                      <a:r>
                        <a:rPr lang="en-US" dirty="0"/>
                        <a:t>4</a:t>
                      </a:r>
                    </a:p>
                  </a:txBody>
                  <a:tcPr/>
                </a:tc>
                <a:tc>
                  <a:txBody>
                    <a:bodyPr/>
                    <a:lstStyle/>
                    <a:p>
                      <a:pPr algn="ctr"/>
                      <a:r>
                        <a:rPr lang="en-US" dirty="0"/>
                        <a:t>4</a:t>
                      </a:r>
                    </a:p>
                  </a:txBody>
                  <a:tcPr/>
                </a:tc>
                <a:extLst>
                  <a:ext uri="{0D108BD9-81ED-4DB2-BD59-A6C34878D82A}">
                    <a16:rowId xmlns:a16="http://schemas.microsoft.com/office/drawing/2014/main" val="2419067700"/>
                  </a:ext>
                </a:extLst>
              </a:tr>
            </a:tbl>
          </a:graphicData>
        </a:graphic>
      </p:graphicFrame>
      <p:sp>
        <p:nvSpPr>
          <p:cNvPr id="7" name="TextBox 6">
            <a:extLst>
              <a:ext uri="{FF2B5EF4-FFF2-40B4-BE49-F238E27FC236}">
                <a16:creationId xmlns:a16="http://schemas.microsoft.com/office/drawing/2014/main" id="{DCA29EB8-C582-A578-F1B6-9972C1A4CC09}"/>
              </a:ext>
            </a:extLst>
          </p:cNvPr>
          <p:cNvSpPr txBox="1"/>
          <p:nvPr/>
        </p:nvSpPr>
        <p:spPr>
          <a:xfrm>
            <a:off x="462017" y="436139"/>
            <a:ext cx="5810865" cy="1200329"/>
          </a:xfrm>
          <a:prstGeom prst="rect">
            <a:avLst/>
          </a:prstGeom>
          <a:solidFill>
            <a:schemeClr val="accent1">
              <a:lumMod val="50000"/>
            </a:schemeClr>
          </a:solidFill>
        </p:spPr>
        <p:txBody>
          <a:bodyPr wrap="square" rtlCol="0">
            <a:spAutoFit/>
          </a:bodyPr>
          <a:lstStyle/>
          <a:p>
            <a:pPr marL="285750" indent="-285750">
              <a:buFont typeface="Arial" panose="020B0604020202020204" pitchFamily="34" charset="0"/>
              <a:buChar char="•"/>
            </a:pPr>
            <a:r>
              <a:rPr lang="en-US" dirty="0"/>
              <a:t>In the oracle of runes, the robot will come to the barcode area, and it will pass through the barcode at a constant speed  while measuring the time to pass the white lines separately.</a:t>
            </a:r>
          </a:p>
        </p:txBody>
      </p:sp>
    </p:spTree>
    <p:extLst>
      <p:ext uri="{BB962C8B-B14F-4D97-AF65-F5344CB8AC3E}">
        <p14:creationId xmlns:p14="http://schemas.microsoft.com/office/powerpoint/2010/main" val="258782439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anim calcmode="lin" valueType="num">
                                      <p:cBhvr>
                                        <p:cTn id="27" dur="1000" fill="hold"/>
                                        <p:tgtEl>
                                          <p:spTgt spid="3"/>
                                        </p:tgtEl>
                                        <p:attrNameLst>
                                          <p:attrName>ppt_x</p:attrName>
                                        </p:attrNameLst>
                                      </p:cBhvr>
                                      <p:tavLst>
                                        <p:tav tm="0">
                                          <p:val>
                                            <p:strVal val="#ppt_x"/>
                                          </p:val>
                                        </p:tav>
                                        <p:tav tm="100000">
                                          <p:val>
                                            <p:strVal val="#ppt_x"/>
                                          </p:val>
                                        </p:tav>
                                      </p:tavLst>
                                    </p:anim>
                                    <p:anim calcmode="lin" valueType="num">
                                      <p:cBhvr>
                                        <p:cTn id="28" dur="1000" fill="hold"/>
                                        <p:tgtEl>
                                          <p:spTgt spid="3"/>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7A675F33-98AF-4B83-A3BB-0780A231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Top view of a labyrinth">
            <a:extLst>
              <a:ext uri="{FF2B5EF4-FFF2-40B4-BE49-F238E27FC236}">
                <a16:creationId xmlns:a16="http://schemas.microsoft.com/office/drawing/2014/main" id="{8B8E0EBE-A3DA-86AC-E1D7-12BDF09DD9D2}"/>
              </a:ext>
            </a:extLst>
          </p:cNvPr>
          <p:cNvPicPr>
            <a:picLocks noChangeAspect="1"/>
          </p:cNvPicPr>
          <p:nvPr/>
        </p:nvPicPr>
        <p:blipFill>
          <a:blip r:embed="rId2">
            <a:alphaModFix amt="40000"/>
          </a:blip>
          <a:srcRect t="8983" b="6748"/>
          <a:stretch>
            <a:fillRect/>
          </a:stretch>
        </p:blipFill>
        <p:spPr>
          <a:xfrm>
            <a:off x="-3175" y="10"/>
            <a:ext cx="12192000" cy="6857990"/>
          </a:xfrm>
          <a:prstGeom prst="rect">
            <a:avLst/>
          </a:prstGeom>
        </p:spPr>
      </p:pic>
      <p:sp>
        <p:nvSpPr>
          <p:cNvPr id="2" name="Title 1">
            <a:extLst>
              <a:ext uri="{FF2B5EF4-FFF2-40B4-BE49-F238E27FC236}">
                <a16:creationId xmlns:a16="http://schemas.microsoft.com/office/drawing/2014/main" id="{252E9C97-A5D7-C369-8673-E0F889A89BB2}"/>
              </a:ext>
            </a:extLst>
          </p:cNvPr>
          <p:cNvSpPr>
            <a:spLocks noGrp="1"/>
          </p:cNvSpPr>
          <p:nvPr>
            <p:ph type="title"/>
          </p:nvPr>
        </p:nvSpPr>
        <p:spPr>
          <a:xfrm>
            <a:off x="558006" y="190499"/>
            <a:ext cx="8001000" cy="2971801"/>
          </a:xfrm>
        </p:spPr>
        <p:txBody>
          <a:bodyPr vert="horz" lIns="91440" tIns="45720" rIns="91440" bIns="45720" rtlCol="0" anchor="b">
            <a:normAutofit/>
          </a:bodyPr>
          <a:lstStyle/>
          <a:p>
            <a:r>
              <a:rPr lang="en-US" sz="4800" dirty="0"/>
              <a:t>Task 4 – the circular fortress</a:t>
            </a:r>
          </a:p>
        </p:txBody>
      </p:sp>
    </p:spTree>
    <p:extLst>
      <p:ext uri="{BB962C8B-B14F-4D97-AF65-F5344CB8AC3E}">
        <p14:creationId xmlns:p14="http://schemas.microsoft.com/office/powerpoint/2010/main" val="3428491260"/>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6C931-A1A7-97FC-9DA4-243FA08C4C5B}"/>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64A5FBF-170C-46A3-86D3-5343E92E39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B2FCE8C-A236-247E-7305-B272D7F0B2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DF95E0C-2973-7721-F6F6-DE13F20B4E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64088A2-E5C9-4FE1-D0BD-7E68DC8F59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33AD29F-CF02-58DB-EC80-F2A82F1403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6EFDD33E-91F7-288C-57AE-3E5A748EB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Picture 3" descr="Top view of a labyrinth">
            <a:extLst>
              <a:ext uri="{FF2B5EF4-FFF2-40B4-BE49-F238E27FC236}">
                <a16:creationId xmlns:a16="http://schemas.microsoft.com/office/drawing/2014/main" id="{E692D4AC-92CC-B83B-2EAB-C16C3E137F0C}"/>
              </a:ext>
            </a:extLst>
          </p:cNvPr>
          <p:cNvPicPr>
            <a:picLocks noChangeAspect="1"/>
          </p:cNvPicPr>
          <p:nvPr/>
        </p:nvPicPr>
        <p:blipFill>
          <a:blip r:embed="rId2">
            <a:alphaModFix amt="40000"/>
          </a:blip>
          <a:srcRect t="8983" b="6748"/>
          <a:stretch>
            <a:fillRect/>
          </a:stretch>
        </p:blipFill>
        <p:spPr>
          <a:xfrm>
            <a:off x="-3175" y="10"/>
            <a:ext cx="12192000" cy="6857990"/>
          </a:xfrm>
          <a:prstGeom prst="rect">
            <a:avLst/>
          </a:prstGeom>
        </p:spPr>
      </p:pic>
      <p:pic>
        <p:nvPicPr>
          <p:cNvPr id="3" name="Picture 2" descr="A circular object with several colored objects">
            <a:extLst>
              <a:ext uri="{FF2B5EF4-FFF2-40B4-BE49-F238E27FC236}">
                <a16:creationId xmlns:a16="http://schemas.microsoft.com/office/drawing/2014/main" id="{0BC38032-BFB0-1EDA-440C-B96EFFD34D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9009" y="3305412"/>
            <a:ext cx="4599124" cy="3121729"/>
          </a:xfrm>
          <a:prstGeom prst="rect">
            <a:avLst/>
          </a:prstGeom>
        </p:spPr>
      </p:pic>
      <p:sp>
        <p:nvSpPr>
          <p:cNvPr id="5" name="TextBox 4">
            <a:extLst>
              <a:ext uri="{FF2B5EF4-FFF2-40B4-BE49-F238E27FC236}">
                <a16:creationId xmlns:a16="http://schemas.microsoft.com/office/drawing/2014/main" id="{52029B02-C768-4437-559E-94DB1FFCD929}"/>
              </a:ext>
            </a:extLst>
          </p:cNvPr>
          <p:cNvSpPr txBox="1"/>
          <p:nvPr/>
        </p:nvSpPr>
        <p:spPr>
          <a:xfrm>
            <a:off x="358900" y="198121"/>
            <a:ext cx="11679111" cy="2862322"/>
          </a:xfrm>
          <a:prstGeom prst="rect">
            <a:avLst/>
          </a:prstGeom>
          <a:solidFill>
            <a:schemeClr val="bg1">
              <a:lumMod val="85000"/>
              <a:lumOff val="15000"/>
            </a:schemeClr>
          </a:solidFill>
        </p:spPr>
        <p:txBody>
          <a:bodyPr wrap="square" rtlCol="0">
            <a:spAutoFit/>
          </a:bodyPr>
          <a:lstStyle/>
          <a:p>
            <a:pPr marL="285750" indent="-285750">
              <a:buFont typeface="Arial" panose="020B0604020202020204" pitchFamily="34" charset="0"/>
              <a:buChar char="•"/>
            </a:pPr>
            <a:r>
              <a:rPr lang="en-US" dirty="0"/>
              <a:t>The robot moves forward until it reaches a wall.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Then follows the wall while maintaining a constant distance from it until it detects an opening.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After detecting the opening, the robot makes a 180- degree U turn around the corner of the opening and continues following the wall while using its robotic arm to pick up balls and place them into a container.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Once it reaches the opposite end, it performs another 180-degree turn around the other corner and returns to the starting position by following the wall.</a:t>
            </a:r>
          </a:p>
        </p:txBody>
      </p:sp>
    </p:spTree>
    <p:extLst>
      <p:ext uri="{BB962C8B-B14F-4D97-AF65-F5344CB8AC3E}">
        <p14:creationId xmlns:p14="http://schemas.microsoft.com/office/powerpoint/2010/main" val="3132794061"/>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7A675F33-98AF-4B83-A3BB-0780A231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3D square and rectangle">
            <a:extLst>
              <a:ext uri="{FF2B5EF4-FFF2-40B4-BE49-F238E27FC236}">
                <a16:creationId xmlns:a16="http://schemas.microsoft.com/office/drawing/2014/main" id="{98E332AC-3225-D04F-B17F-5342CFA19AA3}"/>
              </a:ext>
            </a:extLst>
          </p:cNvPr>
          <p:cNvPicPr>
            <a:picLocks noChangeAspect="1"/>
          </p:cNvPicPr>
          <p:nvPr/>
        </p:nvPicPr>
        <p:blipFill>
          <a:blip r:embed="rId2">
            <a:alphaModFix amt="40000"/>
          </a:blip>
          <a:srcRect t="10148" b="8330"/>
          <a:stretch>
            <a:fillRect/>
          </a:stretch>
        </p:blipFill>
        <p:spPr>
          <a:xfrm>
            <a:off x="-3175" y="10"/>
            <a:ext cx="12192000" cy="6857990"/>
          </a:xfrm>
          <a:prstGeom prst="rect">
            <a:avLst/>
          </a:prstGeom>
        </p:spPr>
      </p:pic>
      <p:sp>
        <p:nvSpPr>
          <p:cNvPr id="2" name="Title 1">
            <a:extLst>
              <a:ext uri="{FF2B5EF4-FFF2-40B4-BE49-F238E27FC236}">
                <a16:creationId xmlns:a16="http://schemas.microsoft.com/office/drawing/2014/main" id="{642FD1BF-E1E7-1402-EE03-172C5874F2B3}"/>
              </a:ext>
            </a:extLst>
          </p:cNvPr>
          <p:cNvSpPr>
            <a:spLocks noGrp="1"/>
          </p:cNvSpPr>
          <p:nvPr>
            <p:ph type="title"/>
          </p:nvPr>
        </p:nvSpPr>
        <p:spPr>
          <a:xfrm>
            <a:off x="684212" y="685799"/>
            <a:ext cx="8001000" cy="2971801"/>
          </a:xfrm>
        </p:spPr>
        <p:txBody>
          <a:bodyPr vert="horz" lIns="91440" tIns="45720" rIns="91440" bIns="45720" rtlCol="0" anchor="b">
            <a:normAutofit/>
          </a:bodyPr>
          <a:lstStyle/>
          <a:p>
            <a:r>
              <a:rPr lang="en-US" sz="4800" dirty="0"/>
              <a:t>Task 5 – the wall of whispers &amp; pendulum of doom</a:t>
            </a:r>
          </a:p>
        </p:txBody>
      </p:sp>
    </p:spTree>
    <p:extLst>
      <p:ext uri="{BB962C8B-B14F-4D97-AF65-F5344CB8AC3E}">
        <p14:creationId xmlns:p14="http://schemas.microsoft.com/office/powerpoint/2010/main" val="7292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8A85E-CE85-16D7-5CBF-21F689618A03}"/>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31E4CFF-43E0-AFC9-563A-D182B8BAC5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9EB89BC-EB6B-F328-1125-5C70469675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C964568-CF0C-B7EB-A985-41264DDD74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4310D05-8888-F6F7-237B-3CB36518BE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7E81D66-7FF0-692C-F880-03D7FD6CB4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A43A67E9-B044-5634-7BC6-BA91BC62B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Picture 3" descr="3D square and rectangle">
            <a:extLst>
              <a:ext uri="{FF2B5EF4-FFF2-40B4-BE49-F238E27FC236}">
                <a16:creationId xmlns:a16="http://schemas.microsoft.com/office/drawing/2014/main" id="{9C60CC5A-7600-4DD4-A4E2-D10DF1643F1F}"/>
              </a:ext>
            </a:extLst>
          </p:cNvPr>
          <p:cNvPicPr>
            <a:picLocks noChangeAspect="1"/>
          </p:cNvPicPr>
          <p:nvPr/>
        </p:nvPicPr>
        <p:blipFill>
          <a:blip r:embed="rId2">
            <a:alphaModFix amt="40000"/>
          </a:blip>
          <a:srcRect t="10148" b="8330"/>
          <a:stretch>
            <a:fillRect/>
          </a:stretch>
        </p:blipFill>
        <p:spPr>
          <a:xfrm>
            <a:off x="-3175" y="10"/>
            <a:ext cx="12192000" cy="6857990"/>
          </a:xfrm>
          <a:prstGeom prst="rect">
            <a:avLst/>
          </a:prstGeom>
        </p:spPr>
      </p:pic>
      <p:pic>
        <p:nvPicPr>
          <p:cNvPr id="5" name="Picture 4" descr="A black and white map&#10;&#10;AI-generated content may be incorrect.">
            <a:extLst>
              <a:ext uri="{FF2B5EF4-FFF2-40B4-BE49-F238E27FC236}">
                <a16:creationId xmlns:a16="http://schemas.microsoft.com/office/drawing/2014/main" id="{70FCCF05-2E7E-9CC7-5061-4F81960867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8138" y="2705100"/>
            <a:ext cx="5797142" cy="2570605"/>
          </a:xfrm>
          <a:prstGeom prst="rect">
            <a:avLst/>
          </a:prstGeom>
        </p:spPr>
      </p:pic>
      <p:sp>
        <p:nvSpPr>
          <p:cNvPr id="6" name="TextBox 5">
            <a:extLst>
              <a:ext uri="{FF2B5EF4-FFF2-40B4-BE49-F238E27FC236}">
                <a16:creationId xmlns:a16="http://schemas.microsoft.com/office/drawing/2014/main" id="{171FC37C-D6CD-F69E-7DB1-AC98D13D02B2}"/>
              </a:ext>
            </a:extLst>
          </p:cNvPr>
          <p:cNvSpPr txBox="1"/>
          <p:nvPr/>
        </p:nvSpPr>
        <p:spPr>
          <a:xfrm>
            <a:off x="199696" y="346841"/>
            <a:ext cx="9269423" cy="1846659"/>
          </a:xfrm>
          <a:prstGeom prst="rect">
            <a:avLst/>
          </a:prstGeom>
          <a:noFill/>
        </p:spPr>
        <p:txBody>
          <a:bodyPr wrap="square" rtlCol="0">
            <a:spAutoFit/>
          </a:bodyPr>
          <a:lstStyle/>
          <a:p>
            <a:pPr marL="285750" indent="-285750">
              <a:buFont typeface="Arial" panose="020B0604020202020204" pitchFamily="34" charset="0"/>
              <a:buChar char="•"/>
            </a:pPr>
            <a:r>
              <a:rPr lang="en-US" sz="2400" dirty="0"/>
              <a:t>This task consists of 3 major phases.</a:t>
            </a:r>
          </a:p>
          <a:p>
            <a:pPr marL="800100" lvl="1" indent="-342900">
              <a:buFont typeface="+mj-lt"/>
              <a:buAutoNum type="arabicPeriod"/>
            </a:pPr>
            <a:r>
              <a:rPr lang="en-US" sz="2400" dirty="0"/>
              <a:t>Traversing the broken lines</a:t>
            </a:r>
          </a:p>
          <a:p>
            <a:pPr marL="800100" lvl="1" indent="-342900">
              <a:buFont typeface="+mj-lt"/>
              <a:buAutoNum type="arabicPeriod"/>
            </a:pPr>
            <a:r>
              <a:rPr lang="en-US" sz="2400" dirty="0"/>
              <a:t>THE HIDDEN TASK</a:t>
            </a:r>
          </a:p>
          <a:p>
            <a:pPr marL="800100" lvl="1" indent="-342900">
              <a:buFont typeface="+mj-lt"/>
              <a:buAutoNum type="arabicPeriod"/>
            </a:pPr>
            <a:r>
              <a:rPr lang="en-US" sz="2400" dirty="0"/>
              <a:t>Wall following &amp; avoiding the pendulum</a:t>
            </a:r>
          </a:p>
          <a:p>
            <a:pPr marL="800100" lvl="1" indent="-342900">
              <a:buFont typeface="+mj-lt"/>
              <a:buAutoNum type="arabicPeriod"/>
            </a:pPr>
            <a:endParaRPr lang="en-US" dirty="0"/>
          </a:p>
        </p:txBody>
      </p:sp>
      <p:sp>
        <p:nvSpPr>
          <p:cNvPr id="7" name="TextBox 6">
            <a:extLst>
              <a:ext uri="{FF2B5EF4-FFF2-40B4-BE49-F238E27FC236}">
                <a16:creationId xmlns:a16="http://schemas.microsoft.com/office/drawing/2014/main" id="{0BB8671C-10B1-B491-5B00-8B127C57AA01}"/>
              </a:ext>
            </a:extLst>
          </p:cNvPr>
          <p:cNvSpPr txBox="1"/>
          <p:nvPr/>
        </p:nvSpPr>
        <p:spPr>
          <a:xfrm>
            <a:off x="245454" y="2705100"/>
            <a:ext cx="5568474" cy="2616101"/>
          </a:xfrm>
          <a:prstGeom prst="rect">
            <a:avLst/>
          </a:prstGeom>
          <a:solidFill>
            <a:schemeClr val="accent1">
              <a:lumMod val="50000"/>
            </a:schemeClr>
          </a:solidFill>
        </p:spPr>
        <p:txBody>
          <a:bodyPr wrap="square" rtlCol="0">
            <a:spAutoFit/>
          </a:bodyPr>
          <a:lstStyle/>
          <a:p>
            <a:r>
              <a:rPr lang="en-US" sz="3200" dirty="0"/>
              <a:t>1.</a:t>
            </a:r>
            <a:r>
              <a:rPr lang="en-US" sz="2800" i="1" dirty="0"/>
              <a:t>Traversing the broken </a:t>
            </a:r>
          </a:p>
          <a:p>
            <a:r>
              <a:rPr lang="en-US" sz="2800" i="1" dirty="0"/>
              <a:t>   lines using IR sensor array</a:t>
            </a:r>
            <a:r>
              <a:rPr lang="en-US" sz="3200" i="1" dirty="0"/>
              <a:t>:</a:t>
            </a:r>
          </a:p>
          <a:p>
            <a:endParaRPr lang="en-US" sz="3200" i="1" dirty="0"/>
          </a:p>
          <a:p>
            <a:pPr algn="r"/>
            <a:r>
              <a:rPr lang="en-US" sz="3200" i="1" dirty="0"/>
              <a:t> </a:t>
            </a:r>
            <a:r>
              <a:rPr lang="en-US" i="1" dirty="0"/>
              <a:t>Ro</a:t>
            </a:r>
            <a:r>
              <a:rPr lang="en-US" dirty="0"/>
              <a:t>bot follow the direction of each line segment until it find the next line segment and then it will adjust the direction again.</a:t>
            </a:r>
          </a:p>
        </p:txBody>
      </p:sp>
    </p:spTree>
    <p:extLst>
      <p:ext uri="{BB962C8B-B14F-4D97-AF65-F5344CB8AC3E}">
        <p14:creationId xmlns:p14="http://schemas.microsoft.com/office/powerpoint/2010/main" val="351535160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8385A-E70A-264C-92AB-3608CFC3DB0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F273FAB-BFE1-B1F0-5FF7-043386F305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0EEE77E-0355-9193-CF4B-852E77C973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94F8B4A-B092-BAA2-8CD6-3F2C2488F6B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E2D3EB1-DF03-3B41-6502-84B5F197D6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C63FBE9-5065-686E-D90A-143CDF30DBA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16A85EE3-0626-F66B-0E9E-72D2FC777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Picture 3" descr="3D square and rectangle">
            <a:extLst>
              <a:ext uri="{FF2B5EF4-FFF2-40B4-BE49-F238E27FC236}">
                <a16:creationId xmlns:a16="http://schemas.microsoft.com/office/drawing/2014/main" id="{D566F9C9-82A6-1AAD-079A-F321354A73F8}"/>
              </a:ext>
            </a:extLst>
          </p:cNvPr>
          <p:cNvPicPr>
            <a:picLocks noChangeAspect="1"/>
          </p:cNvPicPr>
          <p:nvPr/>
        </p:nvPicPr>
        <p:blipFill>
          <a:blip r:embed="rId2">
            <a:alphaModFix amt="40000"/>
          </a:blip>
          <a:srcRect t="10148" b="8330"/>
          <a:stretch>
            <a:fillRect/>
          </a:stretch>
        </p:blipFill>
        <p:spPr>
          <a:xfrm>
            <a:off x="-3175" y="10"/>
            <a:ext cx="12192000" cy="6857990"/>
          </a:xfrm>
          <a:prstGeom prst="rect">
            <a:avLst/>
          </a:prstGeom>
        </p:spPr>
      </p:pic>
      <p:sp>
        <p:nvSpPr>
          <p:cNvPr id="2" name="TextBox 1">
            <a:extLst>
              <a:ext uri="{FF2B5EF4-FFF2-40B4-BE49-F238E27FC236}">
                <a16:creationId xmlns:a16="http://schemas.microsoft.com/office/drawing/2014/main" id="{AF553472-859F-008D-6DF4-54CE304F06F0}"/>
              </a:ext>
            </a:extLst>
          </p:cNvPr>
          <p:cNvSpPr txBox="1"/>
          <p:nvPr/>
        </p:nvSpPr>
        <p:spPr>
          <a:xfrm>
            <a:off x="489690" y="515771"/>
            <a:ext cx="11173990" cy="2308324"/>
          </a:xfrm>
          <a:prstGeom prst="rect">
            <a:avLst/>
          </a:prstGeom>
          <a:solidFill>
            <a:schemeClr val="accent1">
              <a:lumMod val="50000"/>
            </a:schemeClr>
          </a:solidFill>
        </p:spPr>
        <p:txBody>
          <a:bodyPr wrap="square" rtlCol="0">
            <a:spAutoFit/>
          </a:bodyPr>
          <a:lstStyle/>
          <a:p>
            <a:r>
              <a:rPr lang="en-US" sz="3200" dirty="0"/>
              <a:t>2. Wall Following &amp; Avoiding the Pendulum:</a:t>
            </a:r>
          </a:p>
          <a:p>
            <a:endParaRPr lang="en-US" sz="3200" dirty="0"/>
          </a:p>
          <a:p>
            <a:pPr algn="r"/>
            <a:r>
              <a:rPr lang="en-US" sz="2000" dirty="0"/>
              <a:t>Using 2 Time of Flight sensors at two sides of the robot, it will go through two walls at a medium speed until it reaches the first junction and then it will move little bit slower until it detects the pendulum. Right after pendulum swings away, robot will move fast towards forward direction.</a:t>
            </a:r>
          </a:p>
        </p:txBody>
      </p:sp>
      <p:sp>
        <p:nvSpPr>
          <p:cNvPr id="5" name="TextBox 4">
            <a:extLst>
              <a:ext uri="{FF2B5EF4-FFF2-40B4-BE49-F238E27FC236}">
                <a16:creationId xmlns:a16="http://schemas.microsoft.com/office/drawing/2014/main" id="{9B588D93-F5E4-3104-936C-31710CAF034E}"/>
              </a:ext>
            </a:extLst>
          </p:cNvPr>
          <p:cNvSpPr txBox="1"/>
          <p:nvPr/>
        </p:nvSpPr>
        <p:spPr>
          <a:xfrm>
            <a:off x="489689" y="3981556"/>
            <a:ext cx="11173990" cy="1015663"/>
          </a:xfrm>
          <a:prstGeom prst="rect">
            <a:avLst/>
          </a:prstGeom>
          <a:solidFill>
            <a:schemeClr val="accent2">
              <a:lumMod val="50000"/>
            </a:schemeClr>
          </a:solidFill>
        </p:spPr>
        <p:txBody>
          <a:bodyPr wrap="square" rtlCol="0">
            <a:spAutoFit/>
          </a:bodyPr>
          <a:lstStyle/>
          <a:p>
            <a:pPr marL="285750" indent="-285750">
              <a:buFont typeface="Arial" panose="020B0604020202020204" pitchFamily="34" charset="0"/>
              <a:buChar char="•"/>
            </a:pPr>
            <a:r>
              <a:rPr lang="en-US" sz="2000" dirty="0"/>
              <a:t>After coming towards the end of two walls, robot will end up staying on the white square with the aid of IR sensors. After correctly positioning the robot on the square, it will turn left towards the ring of triumph.</a:t>
            </a:r>
          </a:p>
        </p:txBody>
      </p:sp>
    </p:spTree>
    <p:extLst>
      <p:ext uri="{BB962C8B-B14F-4D97-AF65-F5344CB8AC3E}">
        <p14:creationId xmlns:p14="http://schemas.microsoft.com/office/powerpoint/2010/main" val="228931746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7A675F33-98AF-4B83-A3BB-0780A231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light trail using fire">
            <a:extLst>
              <a:ext uri="{FF2B5EF4-FFF2-40B4-BE49-F238E27FC236}">
                <a16:creationId xmlns:a16="http://schemas.microsoft.com/office/drawing/2014/main" id="{317C6E2D-BF2D-0280-CC31-B23955A78A00}"/>
              </a:ext>
            </a:extLst>
          </p:cNvPr>
          <p:cNvPicPr>
            <a:picLocks noChangeAspect="1"/>
          </p:cNvPicPr>
          <p:nvPr/>
        </p:nvPicPr>
        <p:blipFill>
          <a:blip r:embed="rId2">
            <a:alphaModFix amt="40000"/>
          </a:blip>
          <a:srcRect t="5405" b="10326"/>
          <a:stretch>
            <a:fillRect/>
          </a:stretch>
        </p:blipFill>
        <p:spPr>
          <a:xfrm>
            <a:off x="-3175" y="10"/>
            <a:ext cx="12192000" cy="6857990"/>
          </a:xfrm>
          <a:prstGeom prst="rect">
            <a:avLst/>
          </a:prstGeom>
        </p:spPr>
      </p:pic>
      <p:sp>
        <p:nvSpPr>
          <p:cNvPr id="2" name="Title 1">
            <a:extLst>
              <a:ext uri="{FF2B5EF4-FFF2-40B4-BE49-F238E27FC236}">
                <a16:creationId xmlns:a16="http://schemas.microsoft.com/office/drawing/2014/main" id="{AA02B42A-04E2-2709-BDAD-E2B7EF9790AF}"/>
              </a:ext>
            </a:extLst>
          </p:cNvPr>
          <p:cNvSpPr>
            <a:spLocks noGrp="1"/>
          </p:cNvSpPr>
          <p:nvPr>
            <p:ph type="title"/>
          </p:nvPr>
        </p:nvSpPr>
        <p:spPr>
          <a:xfrm>
            <a:off x="684212" y="685799"/>
            <a:ext cx="8001000" cy="2971801"/>
          </a:xfrm>
        </p:spPr>
        <p:txBody>
          <a:bodyPr vert="horz" lIns="91440" tIns="45720" rIns="91440" bIns="45720" rtlCol="0" anchor="b">
            <a:normAutofit/>
          </a:bodyPr>
          <a:lstStyle/>
          <a:p>
            <a:r>
              <a:rPr lang="en-US" sz="4800" dirty="0"/>
              <a:t>Task 6 – the line of destiny &amp; the ring of triumph</a:t>
            </a:r>
          </a:p>
        </p:txBody>
      </p:sp>
    </p:spTree>
    <p:extLst>
      <p:ext uri="{BB962C8B-B14F-4D97-AF65-F5344CB8AC3E}">
        <p14:creationId xmlns:p14="http://schemas.microsoft.com/office/powerpoint/2010/main" val="3921971603"/>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32CA9-BF7A-E979-16B9-C53E50DA2E33}"/>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A4689B5-933C-587E-043C-F46171854D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F6453F0-FFFB-064A-B8F6-63AF404C42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90ED216-0D4B-0B6F-057F-14D0362331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E55E8CA-4DA2-9F91-F6A6-DBFFD4ECB4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0B3FEB1-9637-6D56-84AF-C44CAD10CA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A4FAD626-6879-3417-2655-BA9FD4664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Picture 3" descr="A light trail using fire">
            <a:extLst>
              <a:ext uri="{FF2B5EF4-FFF2-40B4-BE49-F238E27FC236}">
                <a16:creationId xmlns:a16="http://schemas.microsoft.com/office/drawing/2014/main" id="{51E0162B-64B7-97F5-EC23-D5C24F6DC018}"/>
              </a:ext>
            </a:extLst>
          </p:cNvPr>
          <p:cNvPicPr>
            <a:picLocks noChangeAspect="1"/>
          </p:cNvPicPr>
          <p:nvPr/>
        </p:nvPicPr>
        <p:blipFill>
          <a:blip r:embed="rId3">
            <a:alphaModFix amt="40000"/>
          </a:blip>
          <a:srcRect t="5405" b="10326"/>
          <a:stretch>
            <a:fillRect/>
          </a:stretch>
        </p:blipFill>
        <p:spPr>
          <a:xfrm>
            <a:off x="-3175" y="10"/>
            <a:ext cx="12192000" cy="6857990"/>
          </a:xfrm>
          <a:prstGeom prst="rect">
            <a:avLst/>
          </a:prstGeom>
        </p:spPr>
      </p:pic>
      <p:sp>
        <p:nvSpPr>
          <p:cNvPr id="5" name="TextBox 4">
            <a:extLst>
              <a:ext uri="{FF2B5EF4-FFF2-40B4-BE49-F238E27FC236}">
                <a16:creationId xmlns:a16="http://schemas.microsoft.com/office/drawing/2014/main" id="{4AA0C003-0416-EB74-9FBC-D5D9733B4097}"/>
              </a:ext>
            </a:extLst>
          </p:cNvPr>
          <p:cNvSpPr txBox="1"/>
          <p:nvPr/>
        </p:nvSpPr>
        <p:spPr>
          <a:xfrm>
            <a:off x="409903" y="420413"/>
            <a:ext cx="7667296" cy="738664"/>
          </a:xfrm>
          <a:prstGeom prst="rect">
            <a:avLst/>
          </a:prstGeom>
          <a:noFill/>
        </p:spPr>
        <p:txBody>
          <a:bodyPr wrap="square" rtlCol="0">
            <a:spAutoFit/>
          </a:bodyPr>
          <a:lstStyle/>
          <a:p>
            <a:pPr marL="285750" indent="-285750">
              <a:buFont typeface="Arial" panose="020B0604020202020204" pitchFamily="34" charset="0"/>
              <a:buChar char="•"/>
            </a:pPr>
            <a:r>
              <a:rPr lang="en-US" sz="2400" dirty="0"/>
              <a:t>In this task we will try out 2 methods</a:t>
            </a:r>
            <a:r>
              <a:rPr lang="en-US" dirty="0"/>
              <a:t>.</a:t>
            </a:r>
          </a:p>
          <a:p>
            <a:endParaRPr lang="en-US" dirty="0"/>
          </a:p>
        </p:txBody>
      </p:sp>
      <p:sp>
        <p:nvSpPr>
          <p:cNvPr id="6" name="TextBox 5">
            <a:extLst>
              <a:ext uri="{FF2B5EF4-FFF2-40B4-BE49-F238E27FC236}">
                <a16:creationId xmlns:a16="http://schemas.microsoft.com/office/drawing/2014/main" id="{A88F26BF-C284-C7BB-3AD0-B6D88E703323}"/>
              </a:ext>
            </a:extLst>
          </p:cNvPr>
          <p:cNvSpPr txBox="1"/>
          <p:nvPr/>
        </p:nvSpPr>
        <p:spPr>
          <a:xfrm>
            <a:off x="588579" y="1066744"/>
            <a:ext cx="4725101" cy="3416320"/>
          </a:xfrm>
          <a:prstGeom prst="rect">
            <a:avLst/>
          </a:prstGeom>
          <a:noFill/>
        </p:spPr>
        <p:txBody>
          <a:bodyPr wrap="square" rtlCol="0">
            <a:spAutoFit/>
          </a:bodyPr>
          <a:lstStyle/>
          <a:p>
            <a:pPr marL="342900" indent="-342900">
              <a:buFont typeface="+mj-lt"/>
              <a:buAutoNum type="arabicPeriod"/>
            </a:pPr>
            <a:r>
              <a:rPr lang="en-US" sz="2400" dirty="0"/>
              <a:t>Method 01:</a:t>
            </a:r>
          </a:p>
          <a:p>
            <a:endParaRPr lang="en-US" sz="2400" dirty="0"/>
          </a:p>
          <a:p>
            <a:pPr marL="800100" lvl="1" indent="-342900">
              <a:buFont typeface="Arial" panose="020B0604020202020204" pitchFamily="34" charset="0"/>
              <a:buChar char="•"/>
            </a:pPr>
            <a:r>
              <a:rPr lang="en-US" sz="2400" dirty="0"/>
              <a:t>Balls will be shot towards the ring using two rotating motors. Using the mechanical arm, balls will be placed right in the middle of two motors.</a:t>
            </a:r>
          </a:p>
        </p:txBody>
      </p:sp>
      <p:pic>
        <p:nvPicPr>
          <p:cNvPr id="9" name="Online Media 8" title="Testing Firing Mechanism of Ball launcher">
            <a:hlinkClick r:id="" action="ppaction://media"/>
            <a:extLst>
              <a:ext uri="{FF2B5EF4-FFF2-40B4-BE49-F238E27FC236}">
                <a16:creationId xmlns:a16="http://schemas.microsoft.com/office/drawing/2014/main" id="{FF33BA0D-2678-1553-E30A-90CE9A9CD13C}"/>
              </a:ext>
            </a:extLst>
          </p:cNvPr>
          <p:cNvPicPr>
            <a:picLocks noRot="1" noChangeAspect="1"/>
          </p:cNvPicPr>
          <p:nvPr>
            <a:videoFile r:link="rId1"/>
          </p:nvPr>
        </p:nvPicPr>
        <p:blipFill>
          <a:blip r:embed="rId4"/>
          <a:stretch>
            <a:fillRect/>
          </a:stretch>
        </p:blipFill>
        <p:spPr>
          <a:xfrm>
            <a:off x="6911869" y="375966"/>
            <a:ext cx="3349838" cy="5933289"/>
          </a:xfrm>
          <a:prstGeom prst="rect">
            <a:avLst/>
          </a:prstGeom>
        </p:spPr>
      </p:pic>
    </p:spTree>
    <p:extLst>
      <p:ext uri="{BB962C8B-B14F-4D97-AF65-F5344CB8AC3E}">
        <p14:creationId xmlns:p14="http://schemas.microsoft.com/office/powerpoint/2010/main" val="25011271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24" fill="hold" display="0">
                  <p:stCondLst>
                    <p:cond delay="indefinite"/>
                  </p:stCondLst>
                </p:cTn>
                <p:tgtEl>
                  <p:spTgt spid="9"/>
                </p:tgtEl>
              </p:cMediaNode>
            </p:video>
          </p:childTnLst>
        </p:cTn>
      </p:par>
    </p:tnLst>
    <p:bldLst>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32CA9-BF7A-E979-16B9-C53E50DA2E33}"/>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A4689B5-933C-587E-043C-F46171854D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F6453F0-FFFB-064A-B8F6-63AF404C42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90ED216-0D4B-0B6F-057F-14D0362331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E55E8CA-4DA2-9F91-F6A6-DBFFD4ECB4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0B3FEB1-9637-6D56-84AF-C44CAD10CA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A4FAD626-6879-3417-2655-BA9FD4664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Picture 3" descr="A light trail using fire">
            <a:extLst>
              <a:ext uri="{FF2B5EF4-FFF2-40B4-BE49-F238E27FC236}">
                <a16:creationId xmlns:a16="http://schemas.microsoft.com/office/drawing/2014/main" id="{51E0162B-64B7-97F5-EC23-D5C24F6DC018}"/>
              </a:ext>
            </a:extLst>
          </p:cNvPr>
          <p:cNvPicPr>
            <a:picLocks noChangeAspect="1"/>
          </p:cNvPicPr>
          <p:nvPr/>
        </p:nvPicPr>
        <p:blipFill>
          <a:blip r:embed="rId3">
            <a:alphaModFix amt="40000"/>
          </a:blip>
          <a:srcRect t="5405" b="10326"/>
          <a:stretch>
            <a:fillRect/>
          </a:stretch>
        </p:blipFill>
        <p:spPr>
          <a:xfrm>
            <a:off x="-3175" y="10"/>
            <a:ext cx="12192000" cy="6857990"/>
          </a:xfrm>
          <a:prstGeom prst="rect">
            <a:avLst/>
          </a:prstGeom>
        </p:spPr>
      </p:pic>
      <p:sp>
        <p:nvSpPr>
          <p:cNvPr id="11" name="TextBox 10">
            <a:extLst>
              <a:ext uri="{FF2B5EF4-FFF2-40B4-BE49-F238E27FC236}">
                <a16:creationId xmlns:a16="http://schemas.microsoft.com/office/drawing/2014/main" id="{1C52D10D-429B-4AC9-F70D-E26FBDA0756D}"/>
              </a:ext>
            </a:extLst>
          </p:cNvPr>
          <p:cNvSpPr txBox="1"/>
          <p:nvPr/>
        </p:nvSpPr>
        <p:spPr>
          <a:xfrm>
            <a:off x="560869" y="396776"/>
            <a:ext cx="5579265" cy="4524315"/>
          </a:xfrm>
          <a:prstGeom prst="rect">
            <a:avLst/>
          </a:prstGeom>
          <a:noFill/>
        </p:spPr>
        <p:txBody>
          <a:bodyPr wrap="square" rtlCol="0">
            <a:spAutoFit/>
          </a:bodyPr>
          <a:lstStyle/>
          <a:p>
            <a:pPr marL="342900" indent="-342900">
              <a:buFont typeface="+mj-lt"/>
              <a:buAutoNum type="arabicPeriod" startAt="2"/>
            </a:pPr>
            <a:r>
              <a:rPr lang="en-US" sz="2400" dirty="0"/>
              <a:t>Method 02:</a:t>
            </a:r>
          </a:p>
          <a:p>
            <a:endParaRPr lang="en-US" sz="2400" dirty="0"/>
          </a:p>
          <a:p>
            <a:pPr marL="800100" lvl="1" indent="-342900">
              <a:buFont typeface="Arial" panose="020B0604020202020204" pitchFamily="34" charset="0"/>
              <a:buChar char="•"/>
            </a:pPr>
            <a:r>
              <a:rPr lang="en-US" sz="2400" dirty="0"/>
              <a:t>Balls will be shot using a triggering mechanism as follows. In this method, there will not be any need to place the ball again because, after picking balls, they will be stored in the container where the triggering mechanism is connected right beneath the container</a:t>
            </a:r>
          </a:p>
        </p:txBody>
      </p:sp>
      <p:pic>
        <p:nvPicPr>
          <p:cNvPr id="15" name="Online Media 14" title="DIY - Shooting Mechanism 😍✅">
            <a:hlinkClick r:id="" action="ppaction://media"/>
            <a:extLst>
              <a:ext uri="{FF2B5EF4-FFF2-40B4-BE49-F238E27FC236}">
                <a16:creationId xmlns:a16="http://schemas.microsoft.com/office/drawing/2014/main" id="{06DB136B-6119-FB30-32E4-56A8989D212E}"/>
              </a:ext>
            </a:extLst>
          </p:cNvPr>
          <p:cNvPicPr>
            <a:picLocks noRot="1" noChangeAspect="1"/>
          </p:cNvPicPr>
          <p:nvPr>
            <a:videoFile r:link="rId1"/>
          </p:nvPr>
        </p:nvPicPr>
        <p:blipFill>
          <a:blip r:embed="rId4"/>
          <a:stretch>
            <a:fillRect/>
          </a:stretch>
        </p:blipFill>
        <p:spPr>
          <a:xfrm>
            <a:off x="7445587" y="441793"/>
            <a:ext cx="3286972" cy="5821942"/>
          </a:xfrm>
          <a:prstGeom prst="rect">
            <a:avLst/>
          </a:prstGeom>
        </p:spPr>
      </p:pic>
    </p:spTree>
    <p:extLst>
      <p:ext uri="{BB962C8B-B14F-4D97-AF65-F5344CB8AC3E}">
        <p14:creationId xmlns:p14="http://schemas.microsoft.com/office/powerpoint/2010/main" val="212437690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fill="hold" display="0">
                  <p:stCondLst>
                    <p:cond delay="indefinite"/>
                  </p:stCondLst>
                </p:cTn>
                <p:tgtEl>
                  <p:spTgt spid="15"/>
                </p:tgtEl>
              </p:cMediaNode>
            </p:video>
          </p:childTnLst>
        </p:cTn>
      </p:par>
    </p:tnLst>
    <p:bldLst>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7A675F33-98AF-4B83-A3BB-0780A231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Calculator, pen, compass, money and a paper with graphs printed on it">
            <a:extLst>
              <a:ext uri="{FF2B5EF4-FFF2-40B4-BE49-F238E27FC236}">
                <a16:creationId xmlns:a16="http://schemas.microsoft.com/office/drawing/2014/main" id="{B1575D1E-F32E-73AC-078E-DA784C0FD81A}"/>
              </a:ext>
            </a:extLst>
          </p:cNvPr>
          <p:cNvPicPr>
            <a:picLocks noChangeAspect="1"/>
          </p:cNvPicPr>
          <p:nvPr/>
        </p:nvPicPr>
        <p:blipFill>
          <a:blip r:embed="rId2">
            <a:alphaModFix amt="40000"/>
          </a:blip>
          <a:srcRect b="6639"/>
          <a:stretch>
            <a:fillRect/>
          </a:stretch>
        </p:blipFill>
        <p:spPr>
          <a:xfrm>
            <a:off x="-3175" y="10"/>
            <a:ext cx="12192000" cy="6857990"/>
          </a:xfrm>
          <a:prstGeom prst="rect">
            <a:avLst/>
          </a:prstGeom>
        </p:spPr>
      </p:pic>
      <p:sp>
        <p:nvSpPr>
          <p:cNvPr id="2" name="Title 1">
            <a:extLst>
              <a:ext uri="{FF2B5EF4-FFF2-40B4-BE49-F238E27FC236}">
                <a16:creationId xmlns:a16="http://schemas.microsoft.com/office/drawing/2014/main" id="{6BC006C5-87C1-4400-15AE-429A4E33EF35}"/>
              </a:ext>
            </a:extLst>
          </p:cNvPr>
          <p:cNvSpPr>
            <a:spLocks noGrp="1"/>
          </p:cNvSpPr>
          <p:nvPr>
            <p:ph type="title"/>
          </p:nvPr>
        </p:nvSpPr>
        <p:spPr>
          <a:xfrm>
            <a:off x="684212" y="685799"/>
            <a:ext cx="8001000" cy="2971801"/>
          </a:xfrm>
        </p:spPr>
        <p:txBody>
          <a:bodyPr vert="horz" lIns="91440" tIns="45720" rIns="91440" bIns="45720" rtlCol="0" anchor="b">
            <a:normAutofit/>
          </a:bodyPr>
          <a:lstStyle/>
          <a:p>
            <a:r>
              <a:rPr lang="en-US" sz="4800" dirty="0"/>
              <a:t>The Budget</a:t>
            </a:r>
          </a:p>
        </p:txBody>
      </p:sp>
    </p:spTree>
    <p:extLst>
      <p:ext uri="{BB962C8B-B14F-4D97-AF65-F5344CB8AC3E}">
        <p14:creationId xmlns:p14="http://schemas.microsoft.com/office/powerpoint/2010/main" val="177639262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395FA4-6C55-1138-DA07-7189F9050B22}"/>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B5A561AE-C2AD-34D0-468C-B96227592F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A0DA27C-8823-46D9-9DE1-B85E0A6A62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0223540-411A-E662-4FB9-9CE273EEA7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4069999-FE31-8F80-6777-82835E5C35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4A77A60-C288-8C64-5814-3FB427C54C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FC5CD12F-0880-26BC-2510-C7B417CE0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Calculator, pen, compass, money and a paper with graphs printed on it">
            <a:extLst>
              <a:ext uri="{FF2B5EF4-FFF2-40B4-BE49-F238E27FC236}">
                <a16:creationId xmlns:a16="http://schemas.microsoft.com/office/drawing/2014/main" id="{BA38C77B-4B06-3E4E-C372-BE24E50D4591}"/>
              </a:ext>
            </a:extLst>
          </p:cNvPr>
          <p:cNvPicPr>
            <a:picLocks noChangeAspect="1"/>
          </p:cNvPicPr>
          <p:nvPr/>
        </p:nvPicPr>
        <p:blipFill>
          <a:blip r:embed="rId2">
            <a:alphaModFix amt="40000"/>
          </a:blip>
          <a:srcRect b="6639"/>
          <a:stretch>
            <a:fillRect/>
          </a:stretch>
        </p:blipFill>
        <p:spPr>
          <a:xfrm>
            <a:off x="-3175" y="10"/>
            <a:ext cx="12192000" cy="6857990"/>
          </a:xfrm>
          <a:prstGeom prst="rect">
            <a:avLst/>
          </a:prstGeom>
        </p:spPr>
      </p:pic>
      <p:graphicFrame>
        <p:nvGraphicFramePr>
          <p:cNvPr id="6" name="Table 5">
            <a:extLst>
              <a:ext uri="{FF2B5EF4-FFF2-40B4-BE49-F238E27FC236}">
                <a16:creationId xmlns:a16="http://schemas.microsoft.com/office/drawing/2014/main" id="{C3A363B8-DF42-7A82-E2C9-40476AB027BF}"/>
              </a:ext>
            </a:extLst>
          </p:cNvPr>
          <p:cNvGraphicFramePr>
            <a:graphicFrameLocks noGrp="1"/>
          </p:cNvGraphicFramePr>
          <p:nvPr>
            <p:extLst>
              <p:ext uri="{D42A27DB-BD31-4B8C-83A1-F6EECF244321}">
                <p14:modId xmlns:p14="http://schemas.microsoft.com/office/powerpoint/2010/main" val="2441986400"/>
              </p:ext>
            </p:extLst>
          </p:nvPr>
        </p:nvGraphicFramePr>
        <p:xfrm>
          <a:off x="116152" y="83605"/>
          <a:ext cx="11884024" cy="6765928"/>
        </p:xfrm>
        <a:graphic>
          <a:graphicData uri="http://schemas.openxmlformats.org/drawingml/2006/table">
            <a:tbl>
              <a:tblPr firstRow="1" bandRow="1">
                <a:tableStyleId>{5C22544A-7EE6-4342-B048-85BDC9FD1C3A}</a:tableStyleId>
              </a:tblPr>
              <a:tblGrid>
                <a:gridCol w="5672784">
                  <a:extLst>
                    <a:ext uri="{9D8B030D-6E8A-4147-A177-3AD203B41FA5}">
                      <a16:colId xmlns:a16="http://schemas.microsoft.com/office/drawing/2014/main" val="2882152036"/>
                    </a:ext>
                  </a:extLst>
                </a:gridCol>
                <a:gridCol w="1856348">
                  <a:extLst>
                    <a:ext uri="{9D8B030D-6E8A-4147-A177-3AD203B41FA5}">
                      <a16:colId xmlns:a16="http://schemas.microsoft.com/office/drawing/2014/main" val="3153597997"/>
                    </a:ext>
                  </a:extLst>
                </a:gridCol>
                <a:gridCol w="2307892">
                  <a:extLst>
                    <a:ext uri="{9D8B030D-6E8A-4147-A177-3AD203B41FA5}">
                      <a16:colId xmlns:a16="http://schemas.microsoft.com/office/drawing/2014/main" val="2831140423"/>
                    </a:ext>
                  </a:extLst>
                </a:gridCol>
                <a:gridCol w="2047000">
                  <a:extLst>
                    <a:ext uri="{9D8B030D-6E8A-4147-A177-3AD203B41FA5}">
                      <a16:colId xmlns:a16="http://schemas.microsoft.com/office/drawing/2014/main" val="1016918855"/>
                    </a:ext>
                  </a:extLst>
                </a:gridCol>
              </a:tblGrid>
              <a:tr h="191190">
                <a:tc>
                  <a:txBody>
                    <a:bodyPr/>
                    <a:lstStyle/>
                    <a:p>
                      <a:pPr algn="ctr"/>
                      <a:r>
                        <a:rPr lang="en-US" sz="2000" b="0" dirty="0"/>
                        <a:t>Component</a:t>
                      </a:r>
                    </a:p>
                  </a:txBody>
                  <a:tcPr/>
                </a:tc>
                <a:tc>
                  <a:txBody>
                    <a:bodyPr/>
                    <a:lstStyle/>
                    <a:p>
                      <a:pPr algn="ctr"/>
                      <a:r>
                        <a:rPr lang="en-US" sz="2000" b="0" dirty="0"/>
                        <a:t>Quantity</a:t>
                      </a:r>
                    </a:p>
                  </a:txBody>
                  <a:tcPr/>
                </a:tc>
                <a:tc>
                  <a:txBody>
                    <a:bodyPr/>
                    <a:lstStyle/>
                    <a:p>
                      <a:pPr algn="ctr"/>
                      <a:r>
                        <a:rPr lang="en-US" sz="2000" b="0" dirty="0"/>
                        <a:t>Unit Price (LKR)</a:t>
                      </a:r>
                    </a:p>
                  </a:txBody>
                  <a:tcPr/>
                </a:tc>
                <a:tc>
                  <a:txBody>
                    <a:bodyPr/>
                    <a:lstStyle/>
                    <a:p>
                      <a:pPr algn="ctr"/>
                      <a:r>
                        <a:rPr lang="en-US" sz="2000" b="0" dirty="0"/>
                        <a:t>Total (LKR)</a:t>
                      </a:r>
                    </a:p>
                  </a:txBody>
                  <a:tcPr/>
                </a:tc>
                <a:extLst>
                  <a:ext uri="{0D108BD9-81ED-4DB2-BD59-A6C34878D82A}">
                    <a16:rowId xmlns:a16="http://schemas.microsoft.com/office/drawing/2014/main" val="1200891555"/>
                  </a:ext>
                </a:extLst>
              </a:tr>
              <a:tr h="295731">
                <a:tc>
                  <a:txBody>
                    <a:bodyPr/>
                    <a:lstStyle/>
                    <a:p>
                      <a:pPr algn="l"/>
                      <a:r>
                        <a:rPr lang="en-US" sz="1800" dirty="0"/>
                        <a:t>Encoder motors</a:t>
                      </a:r>
                    </a:p>
                  </a:txBody>
                  <a:tcPr/>
                </a:tc>
                <a:tc>
                  <a:txBody>
                    <a:bodyPr/>
                    <a:lstStyle/>
                    <a:p>
                      <a:pPr algn="ctr"/>
                      <a:r>
                        <a:rPr lang="en-US" dirty="0"/>
                        <a:t>2</a:t>
                      </a:r>
                    </a:p>
                  </a:txBody>
                  <a:tcPr/>
                </a:tc>
                <a:tc>
                  <a:txBody>
                    <a:bodyPr/>
                    <a:lstStyle/>
                    <a:p>
                      <a:pPr algn="ctr"/>
                      <a:r>
                        <a:rPr lang="en-US" dirty="0"/>
                        <a:t>3400</a:t>
                      </a:r>
                    </a:p>
                  </a:txBody>
                  <a:tcPr/>
                </a:tc>
                <a:tc>
                  <a:txBody>
                    <a:bodyPr/>
                    <a:lstStyle/>
                    <a:p>
                      <a:pPr algn="ctr"/>
                      <a:r>
                        <a:rPr lang="en-US" dirty="0"/>
                        <a:t>6800</a:t>
                      </a:r>
                    </a:p>
                  </a:txBody>
                  <a:tcPr/>
                </a:tc>
                <a:extLst>
                  <a:ext uri="{0D108BD9-81ED-4DB2-BD59-A6C34878D82A}">
                    <a16:rowId xmlns:a16="http://schemas.microsoft.com/office/drawing/2014/main" val="2921784626"/>
                  </a:ext>
                </a:extLst>
              </a:tr>
              <a:tr h="295731">
                <a:tc>
                  <a:txBody>
                    <a:bodyPr/>
                    <a:lstStyle/>
                    <a:p>
                      <a:pPr algn="l"/>
                      <a:r>
                        <a:rPr lang="en-US" dirty="0"/>
                        <a:t>Wheels</a:t>
                      </a:r>
                    </a:p>
                  </a:txBody>
                  <a:tcPr/>
                </a:tc>
                <a:tc>
                  <a:txBody>
                    <a:bodyPr/>
                    <a:lstStyle/>
                    <a:p>
                      <a:pPr algn="ctr"/>
                      <a:r>
                        <a:rPr lang="en-US" dirty="0"/>
                        <a:t>2</a:t>
                      </a:r>
                    </a:p>
                  </a:txBody>
                  <a:tcPr/>
                </a:tc>
                <a:tc>
                  <a:txBody>
                    <a:bodyPr/>
                    <a:lstStyle/>
                    <a:p>
                      <a:pPr algn="ctr"/>
                      <a:r>
                        <a:rPr lang="en-US" dirty="0"/>
                        <a:t>100</a:t>
                      </a:r>
                    </a:p>
                  </a:txBody>
                  <a:tcPr/>
                </a:tc>
                <a:tc>
                  <a:txBody>
                    <a:bodyPr/>
                    <a:lstStyle/>
                    <a:p>
                      <a:pPr algn="ctr"/>
                      <a:r>
                        <a:rPr lang="en-US" dirty="0"/>
                        <a:t>200</a:t>
                      </a:r>
                    </a:p>
                  </a:txBody>
                  <a:tcPr/>
                </a:tc>
                <a:extLst>
                  <a:ext uri="{0D108BD9-81ED-4DB2-BD59-A6C34878D82A}">
                    <a16:rowId xmlns:a16="http://schemas.microsoft.com/office/drawing/2014/main" val="2431214571"/>
                  </a:ext>
                </a:extLst>
              </a:tr>
              <a:tr h="295731">
                <a:tc>
                  <a:txBody>
                    <a:bodyPr/>
                    <a:lstStyle/>
                    <a:p>
                      <a:pPr algn="l"/>
                      <a:r>
                        <a:rPr lang="en-US" dirty="0"/>
                        <a:t>Encoder motor driver</a:t>
                      </a:r>
                    </a:p>
                  </a:txBody>
                  <a:tcPr/>
                </a:tc>
                <a:tc>
                  <a:txBody>
                    <a:bodyPr/>
                    <a:lstStyle/>
                    <a:p>
                      <a:pPr algn="ctr"/>
                      <a:r>
                        <a:rPr lang="en-US" dirty="0"/>
                        <a:t>1</a:t>
                      </a:r>
                    </a:p>
                  </a:txBody>
                  <a:tcPr/>
                </a:tc>
                <a:tc>
                  <a:txBody>
                    <a:bodyPr/>
                    <a:lstStyle/>
                    <a:p>
                      <a:pPr algn="ctr"/>
                      <a:r>
                        <a:rPr lang="en-US" dirty="0"/>
                        <a:t>320</a:t>
                      </a:r>
                    </a:p>
                  </a:txBody>
                  <a:tcPr/>
                </a:tc>
                <a:tc>
                  <a:txBody>
                    <a:bodyPr/>
                    <a:lstStyle/>
                    <a:p>
                      <a:pPr algn="ctr"/>
                      <a:r>
                        <a:rPr lang="en-US" dirty="0"/>
                        <a:t>320</a:t>
                      </a:r>
                    </a:p>
                  </a:txBody>
                  <a:tcPr/>
                </a:tc>
                <a:extLst>
                  <a:ext uri="{0D108BD9-81ED-4DB2-BD59-A6C34878D82A}">
                    <a16:rowId xmlns:a16="http://schemas.microsoft.com/office/drawing/2014/main" val="3302135872"/>
                  </a:ext>
                </a:extLst>
              </a:tr>
              <a:tr h="295731">
                <a:tc>
                  <a:txBody>
                    <a:bodyPr/>
                    <a:lstStyle/>
                    <a:p>
                      <a:pPr algn="l"/>
                      <a:r>
                        <a:rPr lang="en-US" dirty="0"/>
                        <a:t>Servo motors</a:t>
                      </a:r>
                    </a:p>
                  </a:txBody>
                  <a:tcPr/>
                </a:tc>
                <a:tc>
                  <a:txBody>
                    <a:bodyPr/>
                    <a:lstStyle/>
                    <a:p>
                      <a:pPr algn="ctr"/>
                      <a:r>
                        <a:rPr lang="en-US" dirty="0"/>
                        <a:t>5</a:t>
                      </a:r>
                    </a:p>
                  </a:txBody>
                  <a:tcPr/>
                </a:tc>
                <a:tc>
                  <a:txBody>
                    <a:bodyPr/>
                    <a:lstStyle/>
                    <a:p>
                      <a:pPr algn="ctr"/>
                      <a:r>
                        <a:rPr lang="en-US" dirty="0"/>
                        <a:t>480</a:t>
                      </a:r>
                    </a:p>
                  </a:txBody>
                  <a:tcPr/>
                </a:tc>
                <a:tc>
                  <a:txBody>
                    <a:bodyPr/>
                    <a:lstStyle/>
                    <a:p>
                      <a:pPr algn="ctr"/>
                      <a:r>
                        <a:rPr lang="en-US" dirty="0"/>
                        <a:t>2400</a:t>
                      </a:r>
                    </a:p>
                  </a:txBody>
                  <a:tcPr/>
                </a:tc>
                <a:extLst>
                  <a:ext uri="{0D108BD9-81ED-4DB2-BD59-A6C34878D82A}">
                    <a16:rowId xmlns:a16="http://schemas.microsoft.com/office/drawing/2014/main" val="3874891305"/>
                  </a:ext>
                </a:extLst>
              </a:tr>
              <a:tr h="295731">
                <a:tc>
                  <a:txBody>
                    <a:bodyPr/>
                    <a:lstStyle/>
                    <a:p>
                      <a:pPr algn="l"/>
                      <a:r>
                        <a:rPr lang="en-US" dirty="0" err="1"/>
                        <a:t>Colour</a:t>
                      </a:r>
                      <a:r>
                        <a:rPr lang="en-US" dirty="0"/>
                        <a:t> sensors</a:t>
                      </a:r>
                    </a:p>
                  </a:txBody>
                  <a:tcPr/>
                </a:tc>
                <a:tc>
                  <a:txBody>
                    <a:bodyPr/>
                    <a:lstStyle/>
                    <a:p>
                      <a:pPr algn="ctr"/>
                      <a:r>
                        <a:rPr lang="en-US" dirty="0"/>
                        <a:t>3</a:t>
                      </a:r>
                    </a:p>
                  </a:txBody>
                  <a:tcPr/>
                </a:tc>
                <a:tc>
                  <a:txBody>
                    <a:bodyPr/>
                    <a:lstStyle/>
                    <a:p>
                      <a:pPr algn="ctr"/>
                      <a:r>
                        <a:rPr lang="en-US" dirty="0"/>
                        <a:t>760</a:t>
                      </a:r>
                    </a:p>
                  </a:txBody>
                  <a:tcPr/>
                </a:tc>
                <a:tc>
                  <a:txBody>
                    <a:bodyPr/>
                    <a:lstStyle/>
                    <a:p>
                      <a:pPr algn="ctr"/>
                      <a:r>
                        <a:rPr lang="en-US" dirty="0"/>
                        <a:t>2280</a:t>
                      </a:r>
                    </a:p>
                  </a:txBody>
                  <a:tcPr/>
                </a:tc>
                <a:extLst>
                  <a:ext uri="{0D108BD9-81ED-4DB2-BD59-A6C34878D82A}">
                    <a16:rowId xmlns:a16="http://schemas.microsoft.com/office/drawing/2014/main" val="4146913489"/>
                  </a:ext>
                </a:extLst>
              </a:tr>
              <a:tr h="295731">
                <a:tc>
                  <a:txBody>
                    <a:bodyPr/>
                    <a:lstStyle/>
                    <a:p>
                      <a:pPr algn="l"/>
                      <a:r>
                        <a:rPr lang="en-US" dirty="0"/>
                        <a:t>Buck converter</a:t>
                      </a:r>
                    </a:p>
                  </a:txBody>
                  <a:tcPr/>
                </a:tc>
                <a:tc>
                  <a:txBody>
                    <a:bodyPr/>
                    <a:lstStyle/>
                    <a:p>
                      <a:pPr algn="ctr"/>
                      <a:r>
                        <a:rPr lang="en-US" dirty="0"/>
                        <a:t>1</a:t>
                      </a:r>
                    </a:p>
                  </a:txBody>
                  <a:tcPr/>
                </a:tc>
                <a:tc>
                  <a:txBody>
                    <a:bodyPr/>
                    <a:lstStyle/>
                    <a:p>
                      <a:pPr algn="ctr"/>
                      <a:r>
                        <a:rPr lang="en-US" dirty="0"/>
                        <a:t>180</a:t>
                      </a:r>
                    </a:p>
                  </a:txBody>
                  <a:tcPr/>
                </a:tc>
                <a:tc>
                  <a:txBody>
                    <a:bodyPr/>
                    <a:lstStyle/>
                    <a:p>
                      <a:pPr algn="ctr"/>
                      <a:r>
                        <a:rPr lang="en-US" dirty="0"/>
                        <a:t>180</a:t>
                      </a:r>
                    </a:p>
                  </a:txBody>
                  <a:tcPr/>
                </a:tc>
                <a:extLst>
                  <a:ext uri="{0D108BD9-81ED-4DB2-BD59-A6C34878D82A}">
                    <a16:rowId xmlns:a16="http://schemas.microsoft.com/office/drawing/2014/main" val="2407114530"/>
                  </a:ext>
                </a:extLst>
              </a:tr>
              <a:tr h="295731">
                <a:tc>
                  <a:txBody>
                    <a:bodyPr/>
                    <a:lstStyle/>
                    <a:p>
                      <a:pPr algn="l"/>
                      <a:r>
                        <a:rPr lang="en-US" dirty="0"/>
                        <a:t>Arduino mega</a:t>
                      </a:r>
                    </a:p>
                  </a:txBody>
                  <a:tcPr/>
                </a:tc>
                <a:tc>
                  <a:txBody>
                    <a:bodyPr/>
                    <a:lstStyle/>
                    <a:p>
                      <a:pPr algn="ctr"/>
                      <a:r>
                        <a:rPr lang="en-US" dirty="0"/>
                        <a:t>1</a:t>
                      </a:r>
                    </a:p>
                  </a:txBody>
                  <a:tcPr/>
                </a:tc>
                <a:tc>
                  <a:txBody>
                    <a:bodyPr/>
                    <a:lstStyle/>
                    <a:p>
                      <a:pPr algn="ctr"/>
                      <a:r>
                        <a:rPr lang="en-US" dirty="0"/>
                        <a:t>4850</a:t>
                      </a:r>
                    </a:p>
                  </a:txBody>
                  <a:tcPr/>
                </a:tc>
                <a:tc>
                  <a:txBody>
                    <a:bodyPr/>
                    <a:lstStyle/>
                    <a:p>
                      <a:pPr algn="ctr"/>
                      <a:r>
                        <a:rPr lang="en-US" dirty="0"/>
                        <a:t>4850</a:t>
                      </a:r>
                    </a:p>
                  </a:txBody>
                  <a:tcPr/>
                </a:tc>
                <a:extLst>
                  <a:ext uri="{0D108BD9-81ED-4DB2-BD59-A6C34878D82A}">
                    <a16:rowId xmlns:a16="http://schemas.microsoft.com/office/drawing/2014/main" val="1954687345"/>
                  </a:ext>
                </a:extLst>
              </a:tr>
              <a:tr h="295731">
                <a:tc>
                  <a:txBody>
                    <a:bodyPr/>
                    <a:lstStyle/>
                    <a:p>
                      <a:pPr algn="l"/>
                      <a:r>
                        <a:rPr lang="en-US" dirty="0"/>
                        <a:t>Acrylic board</a:t>
                      </a:r>
                    </a:p>
                  </a:txBody>
                  <a:tcPr/>
                </a:tc>
                <a:tc>
                  <a:txBody>
                    <a:bodyPr/>
                    <a:lstStyle/>
                    <a:p>
                      <a:pPr algn="ctr"/>
                      <a:r>
                        <a:rPr lang="en-US" dirty="0"/>
                        <a:t>1</a:t>
                      </a:r>
                    </a:p>
                  </a:txBody>
                  <a:tcPr/>
                </a:tc>
                <a:tc>
                  <a:txBody>
                    <a:bodyPr/>
                    <a:lstStyle/>
                    <a:p>
                      <a:pPr algn="ctr"/>
                      <a:r>
                        <a:rPr lang="en-US" dirty="0"/>
                        <a:t>1650</a:t>
                      </a:r>
                    </a:p>
                  </a:txBody>
                  <a:tcPr/>
                </a:tc>
                <a:tc>
                  <a:txBody>
                    <a:bodyPr/>
                    <a:lstStyle/>
                    <a:p>
                      <a:pPr algn="ctr"/>
                      <a:r>
                        <a:rPr lang="en-US" dirty="0"/>
                        <a:t>1650</a:t>
                      </a:r>
                    </a:p>
                  </a:txBody>
                  <a:tcPr/>
                </a:tc>
                <a:extLst>
                  <a:ext uri="{0D108BD9-81ED-4DB2-BD59-A6C34878D82A}">
                    <a16:rowId xmlns:a16="http://schemas.microsoft.com/office/drawing/2014/main" val="670002768"/>
                  </a:ext>
                </a:extLst>
              </a:tr>
              <a:tr h="295731">
                <a:tc>
                  <a:txBody>
                    <a:bodyPr/>
                    <a:lstStyle/>
                    <a:p>
                      <a:pPr algn="l"/>
                      <a:r>
                        <a:rPr lang="en-US" dirty="0"/>
                        <a:t>IR sensor array</a:t>
                      </a:r>
                    </a:p>
                  </a:txBody>
                  <a:tcPr/>
                </a:tc>
                <a:tc>
                  <a:txBody>
                    <a:bodyPr/>
                    <a:lstStyle/>
                    <a:p>
                      <a:pPr algn="ctr"/>
                      <a:r>
                        <a:rPr lang="en-US" dirty="0"/>
                        <a:t>1</a:t>
                      </a:r>
                    </a:p>
                  </a:txBody>
                  <a:tcPr/>
                </a:tc>
                <a:tc>
                  <a:txBody>
                    <a:bodyPr/>
                    <a:lstStyle/>
                    <a:p>
                      <a:pPr algn="ctr"/>
                      <a:r>
                        <a:rPr lang="en-US" dirty="0"/>
                        <a:t>480</a:t>
                      </a:r>
                    </a:p>
                  </a:txBody>
                  <a:tcPr/>
                </a:tc>
                <a:tc>
                  <a:txBody>
                    <a:bodyPr/>
                    <a:lstStyle/>
                    <a:p>
                      <a:pPr algn="ctr"/>
                      <a:r>
                        <a:rPr lang="en-US" dirty="0"/>
                        <a:t>480</a:t>
                      </a:r>
                    </a:p>
                  </a:txBody>
                  <a:tcPr/>
                </a:tc>
                <a:extLst>
                  <a:ext uri="{0D108BD9-81ED-4DB2-BD59-A6C34878D82A}">
                    <a16:rowId xmlns:a16="http://schemas.microsoft.com/office/drawing/2014/main" val="1761019046"/>
                  </a:ext>
                </a:extLst>
              </a:tr>
              <a:tr h="295731">
                <a:tc>
                  <a:txBody>
                    <a:bodyPr/>
                    <a:lstStyle/>
                    <a:p>
                      <a:pPr algn="l"/>
                      <a:r>
                        <a:rPr lang="en-US" dirty="0"/>
                        <a:t>ToF sensors</a:t>
                      </a:r>
                    </a:p>
                  </a:txBody>
                  <a:tcPr/>
                </a:tc>
                <a:tc>
                  <a:txBody>
                    <a:bodyPr/>
                    <a:lstStyle/>
                    <a:p>
                      <a:pPr algn="ctr"/>
                      <a:r>
                        <a:rPr lang="en-US" dirty="0"/>
                        <a:t>3</a:t>
                      </a:r>
                    </a:p>
                  </a:txBody>
                  <a:tcPr/>
                </a:tc>
                <a:tc>
                  <a:txBody>
                    <a:bodyPr/>
                    <a:lstStyle/>
                    <a:p>
                      <a:pPr algn="ctr"/>
                      <a:r>
                        <a:rPr lang="en-US" dirty="0"/>
                        <a:t>600</a:t>
                      </a:r>
                    </a:p>
                  </a:txBody>
                  <a:tcPr/>
                </a:tc>
                <a:tc>
                  <a:txBody>
                    <a:bodyPr/>
                    <a:lstStyle/>
                    <a:p>
                      <a:pPr algn="ctr"/>
                      <a:r>
                        <a:rPr lang="en-US" dirty="0"/>
                        <a:t>1800</a:t>
                      </a:r>
                    </a:p>
                  </a:txBody>
                  <a:tcPr/>
                </a:tc>
                <a:extLst>
                  <a:ext uri="{0D108BD9-81ED-4DB2-BD59-A6C34878D82A}">
                    <a16:rowId xmlns:a16="http://schemas.microsoft.com/office/drawing/2014/main" val="4228068626"/>
                  </a:ext>
                </a:extLst>
              </a:tr>
              <a:tr h="295731">
                <a:tc>
                  <a:txBody>
                    <a:bodyPr/>
                    <a:lstStyle/>
                    <a:p>
                      <a:pPr algn="l"/>
                      <a:r>
                        <a:rPr lang="en-US" dirty="0"/>
                        <a:t>11.1V LiPo battery</a:t>
                      </a:r>
                    </a:p>
                  </a:txBody>
                  <a:tcPr/>
                </a:tc>
                <a:tc>
                  <a:txBody>
                    <a:bodyPr/>
                    <a:lstStyle/>
                    <a:p>
                      <a:pPr algn="ctr"/>
                      <a:r>
                        <a:rPr lang="en-US" dirty="0"/>
                        <a:t>1</a:t>
                      </a:r>
                    </a:p>
                  </a:txBody>
                  <a:tcPr/>
                </a:tc>
                <a:tc>
                  <a:txBody>
                    <a:bodyPr/>
                    <a:lstStyle/>
                    <a:p>
                      <a:pPr algn="ctr"/>
                      <a:r>
                        <a:rPr lang="en-US" dirty="0"/>
                        <a:t>3000</a:t>
                      </a:r>
                    </a:p>
                  </a:txBody>
                  <a:tcPr/>
                </a:tc>
                <a:tc>
                  <a:txBody>
                    <a:bodyPr/>
                    <a:lstStyle/>
                    <a:p>
                      <a:pPr algn="ctr"/>
                      <a:r>
                        <a:rPr lang="en-US" dirty="0"/>
                        <a:t>3000</a:t>
                      </a:r>
                    </a:p>
                  </a:txBody>
                  <a:tcPr/>
                </a:tc>
                <a:extLst>
                  <a:ext uri="{0D108BD9-81ED-4DB2-BD59-A6C34878D82A}">
                    <a16:rowId xmlns:a16="http://schemas.microsoft.com/office/drawing/2014/main" val="3508311329"/>
                  </a:ext>
                </a:extLst>
              </a:tr>
              <a:tr h="295731">
                <a:tc>
                  <a:txBody>
                    <a:bodyPr/>
                    <a:lstStyle/>
                    <a:p>
                      <a:pPr algn="l"/>
                      <a:r>
                        <a:rPr lang="en-US" dirty="0"/>
                        <a:t>11.1V LiPo battery charger</a:t>
                      </a:r>
                    </a:p>
                  </a:txBody>
                  <a:tcPr/>
                </a:tc>
                <a:tc>
                  <a:txBody>
                    <a:bodyPr/>
                    <a:lstStyle/>
                    <a:p>
                      <a:pPr algn="ctr"/>
                      <a:r>
                        <a:rPr lang="en-US" dirty="0"/>
                        <a:t>1</a:t>
                      </a:r>
                    </a:p>
                  </a:txBody>
                  <a:tcPr/>
                </a:tc>
                <a:tc>
                  <a:txBody>
                    <a:bodyPr/>
                    <a:lstStyle/>
                    <a:p>
                      <a:pPr algn="ctr"/>
                      <a:r>
                        <a:rPr lang="en-US" dirty="0"/>
                        <a:t>2500</a:t>
                      </a:r>
                    </a:p>
                  </a:txBody>
                  <a:tcPr/>
                </a:tc>
                <a:tc>
                  <a:txBody>
                    <a:bodyPr/>
                    <a:lstStyle/>
                    <a:p>
                      <a:pPr algn="ctr"/>
                      <a:r>
                        <a:rPr lang="en-US" dirty="0"/>
                        <a:t>2500</a:t>
                      </a:r>
                    </a:p>
                  </a:txBody>
                  <a:tcPr/>
                </a:tc>
                <a:extLst>
                  <a:ext uri="{0D108BD9-81ED-4DB2-BD59-A6C34878D82A}">
                    <a16:rowId xmlns:a16="http://schemas.microsoft.com/office/drawing/2014/main" val="403451172"/>
                  </a:ext>
                </a:extLst>
              </a:tr>
              <a:tr h="295731">
                <a:tc>
                  <a:txBody>
                    <a:bodyPr/>
                    <a:lstStyle/>
                    <a:p>
                      <a:pPr algn="l"/>
                      <a:r>
                        <a:rPr lang="en-US" dirty="0"/>
                        <a:t>Ultrasonic sensor</a:t>
                      </a:r>
                    </a:p>
                  </a:txBody>
                  <a:tcPr/>
                </a:tc>
                <a:tc>
                  <a:txBody>
                    <a:bodyPr/>
                    <a:lstStyle/>
                    <a:p>
                      <a:pPr algn="ctr"/>
                      <a:r>
                        <a:rPr lang="en-US" dirty="0"/>
                        <a:t>1</a:t>
                      </a:r>
                    </a:p>
                  </a:txBody>
                  <a:tcPr/>
                </a:tc>
                <a:tc>
                  <a:txBody>
                    <a:bodyPr/>
                    <a:lstStyle/>
                    <a:p>
                      <a:pPr algn="ctr"/>
                      <a:r>
                        <a:rPr lang="en-US" dirty="0"/>
                        <a:t>390</a:t>
                      </a:r>
                    </a:p>
                  </a:txBody>
                  <a:tcPr/>
                </a:tc>
                <a:tc>
                  <a:txBody>
                    <a:bodyPr/>
                    <a:lstStyle/>
                    <a:p>
                      <a:pPr algn="ctr"/>
                      <a:r>
                        <a:rPr lang="en-US" dirty="0"/>
                        <a:t>390</a:t>
                      </a:r>
                    </a:p>
                  </a:txBody>
                  <a:tcPr/>
                </a:tc>
                <a:extLst>
                  <a:ext uri="{0D108BD9-81ED-4DB2-BD59-A6C34878D82A}">
                    <a16:rowId xmlns:a16="http://schemas.microsoft.com/office/drawing/2014/main" val="3582228231"/>
                  </a:ext>
                </a:extLst>
              </a:tr>
              <a:tr h="517528">
                <a:tc>
                  <a:txBody>
                    <a:bodyPr/>
                    <a:lstStyle/>
                    <a:p>
                      <a:pPr algn="l"/>
                      <a:r>
                        <a:rPr lang="en-US" dirty="0"/>
                        <a:t>Robot arms (Materials, Laser cutting, 3D printing)</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3500</a:t>
                      </a:r>
                    </a:p>
                  </a:txBody>
                  <a:tcPr/>
                </a:tc>
                <a:extLst>
                  <a:ext uri="{0D108BD9-81ED-4DB2-BD59-A6C34878D82A}">
                    <a16:rowId xmlns:a16="http://schemas.microsoft.com/office/drawing/2014/main" val="617120671"/>
                  </a:ext>
                </a:extLst>
              </a:tr>
              <a:tr h="295731">
                <a:tc>
                  <a:txBody>
                    <a:bodyPr/>
                    <a:lstStyle/>
                    <a:p>
                      <a:pPr algn="l"/>
                      <a:r>
                        <a:rPr lang="en-US" dirty="0"/>
                        <a:t>16 channel analog multiplexer</a:t>
                      </a:r>
                    </a:p>
                  </a:txBody>
                  <a:tcPr/>
                </a:tc>
                <a:tc>
                  <a:txBody>
                    <a:bodyPr/>
                    <a:lstStyle/>
                    <a:p>
                      <a:pPr algn="ctr"/>
                      <a:r>
                        <a:rPr lang="en-US" dirty="0"/>
                        <a:t>1</a:t>
                      </a:r>
                    </a:p>
                  </a:txBody>
                  <a:tcPr/>
                </a:tc>
                <a:tc>
                  <a:txBody>
                    <a:bodyPr/>
                    <a:lstStyle/>
                    <a:p>
                      <a:pPr algn="ctr"/>
                      <a:r>
                        <a:rPr lang="en-US" dirty="0"/>
                        <a:t>450</a:t>
                      </a:r>
                    </a:p>
                  </a:txBody>
                  <a:tcPr/>
                </a:tc>
                <a:tc>
                  <a:txBody>
                    <a:bodyPr/>
                    <a:lstStyle/>
                    <a:p>
                      <a:pPr algn="ctr"/>
                      <a:r>
                        <a:rPr lang="en-US" dirty="0"/>
                        <a:t>450</a:t>
                      </a:r>
                    </a:p>
                  </a:txBody>
                  <a:tcPr/>
                </a:tc>
                <a:extLst>
                  <a:ext uri="{0D108BD9-81ED-4DB2-BD59-A6C34878D82A}">
                    <a16:rowId xmlns:a16="http://schemas.microsoft.com/office/drawing/2014/main" val="3319019956"/>
                  </a:ext>
                </a:extLst>
              </a:tr>
              <a:tr h="295731">
                <a:tc>
                  <a:txBody>
                    <a:bodyPr/>
                    <a:lstStyle/>
                    <a:p>
                      <a:pPr algn="l"/>
                      <a:r>
                        <a:rPr lang="en-US" dirty="0"/>
                        <a:t>Others</a:t>
                      </a:r>
                    </a:p>
                  </a:txBody>
                  <a:tcPr/>
                </a:tc>
                <a:tc>
                  <a:txBody>
                    <a:bodyPr/>
                    <a:lstStyle/>
                    <a:p>
                      <a:pPr algn="ctr"/>
                      <a:endParaRPr lang="en-US"/>
                    </a:p>
                  </a:txBody>
                  <a:tcPr/>
                </a:tc>
                <a:tc>
                  <a:txBody>
                    <a:bodyPr/>
                    <a:lstStyle/>
                    <a:p>
                      <a:pPr algn="ctr"/>
                      <a:endParaRPr lang="en-US" dirty="0"/>
                    </a:p>
                  </a:txBody>
                  <a:tcPr/>
                </a:tc>
                <a:tc>
                  <a:txBody>
                    <a:bodyPr/>
                    <a:lstStyle/>
                    <a:p>
                      <a:pPr algn="ctr"/>
                      <a:r>
                        <a:rPr lang="en-US" dirty="0"/>
                        <a:t>750</a:t>
                      </a:r>
                    </a:p>
                  </a:txBody>
                  <a:tcPr/>
                </a:tc>
                <a:extLst>
                  <a:ext uri="{0D108BD9-81ED-4DB2-BD59-A6C34878D82A}">
                    <a16:rowId xmlns:a16="http://schemas.microsoft.com/office/drawing/2014/main" val="2665232721"/>
                  </a:ext>
                </a:extLst>
              </a:tr>
              <a:tr h="295731">
                <a:tc gridSpan="3">
                  <a:txBody>
                    <a:bodyPr/>
                    <a:lstStyle/>
                    <a:p>
                      <a:pPr algn="r"/>
                      <a:r>
                        <a:rPr lang="en-US" dirty="0"/>
                        <a:t>Total</a:t>
                      </a:r>
                    </a:p>
                  </a:txBody>
                  <a:tcPr>
                    <a:solidFill>
                      <a:schemeClr val="bg2">
                        <a:lumMod val="60000"/>
                        <a:lumOff val="40000"/>
                      </a:schemeClr>
                    </a:solidFill>
                  </a:tcPr>
                </a:tc>
                <a:tc hMerge="1">
                  <a:txBody>
                    <a:bodyPr/>
                    <a:lstStyle/>
                    <a:p>
                      <a:pPr algn="ctr"/>
                      <a:endParaRPr lang="en-US" dirty="0"/>
                    </a:p>
                  </a:txBody>
                  <a:tcPr>
                    <a:solidFill>
                      <a:schemeClr val="bg2">
                        <a:lumMod val="60000"/>
                        <a:lumOff val="40000"/>
                      </a:schemeClr>
                    </a:solidFill>
                  </a:tcPr>
                </a:tc>
                <a:tc hMerge="1">
                  <a:txBody>
                    <a:bodyPr/>
                    <a:lstStyle/>
                    <a:p>
                      <a:pPr algn="ctr"/>
                      <a:endParaRPr lang="en-US" sz="1800" kern="1200" dirty="0">
                        <a:solidFill>
                          <a:schemeClr val="dk1"/>
                        </a:solidFill>
                        <a:latin typeface="+mn-lt"/>
                        <a:ea typeface="+mn-ea"/>
                        <a:cs typeface="+mn-cs"/>
                      </a:endParaRPr>
                    </a:p>
                  </a:txBody>
                  <a:tcPr>
                    <a:solidFill>
                      <a:schemeClr val="bg2">
                        <a:lumMod val="60000"/>
                        <a:lumOff val="40000"/>
                      </a:schemeClr>
                    </a:solidFill>
                  </a:tcPr>
                </a:tc>
                <a:tc>
                  <a:txBody>
                    <a:bodyPr/>
                    <a:lstStyle/>
                    <a:p>
                      <a:pPr algn="ctr"/>
                      <a:r>
                        <a:rPr lang="en-US" dirty="0"/>
                        <a:t>31550</a:t>
                      </a:r>
                    </a:p>
                  </a:txBody>
                  <a:tcPr>
                    <a:solidFill>
                      <a:schemeClr val="bg2">
                        <a:lumMod val="60000"/>
                        <a:lumOff val="40000"/>
                      </a:schemeClr>
                    </a:solidFill>
                  </a:tcPr>
                </a:tc>
                <a:extLst>
                  <a:ext uri="{0D108BD9-81ED-4DB2-BD59-A6C34878D82A}">
                    <a16:rowId xmlns:a16="http://schemas.microsoft.com/office/drawing/2014/main" val="2071144804"/>
                  </a:ext>
                </a:extLst>
              </a:tr>
            </a:tbl>
          </a:graphicData>
        </a:graphic>
      </p:graphicFrame>
    </p:spTree>
    <p:extLst>
      <p:ext uri="{BB962C8B-B14F-4D97-AF65-F5344CB8AC3E}">
        <p14:creationId xmlns:p14="http://schemas.microsoft.com/office/powerpoint/2010/main" val="30415866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5CB6-C35C-2370-D1E4-1DEF976DB62D}"/>
              </a:ext>
            </a:extLst>
          </p:cNvPr>
          <p:cNvSpPr>
            <a:spLocks noGrp="1"/>
          </p:cNvSpPr>
          <p:nvPr>
            <p:ph type="title"/>
          </p:nvPr>
        </p:nvSpPr>
        <p:spPr>
          <a:xfrm>
            <a:off x="1828800" y="1921933"/>
            <a:ext cx="8534400" cy="1507067"/>
          </a:xfrm>
        </p:spPr>
        <p:txBody>
          <a:bodyPr/>
          <a:lstStyle/>
          <a:p>
            <a:pPr algn="ctr"/>
            <a:r>
              <a:rPr lang="en-US" dirty="0"/>
              <a:t>Q&amp;A</a:t>
            </a:r>
          </a:p>
        </p:txBody>
      </p:sp>
    </p:spTree>
    <p:extLst>
      <p:ext uri="{BB962C8B-B14F-4D97-AF65-F5344CB8AC3E}">
        <p14:creationId xmlns:p14="http://schemas.microsoft.com/office/powerpoint/2010/main" val="28229028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498</TotalTime>
  <Words>1446</Words>
  <Application>Microsoft Office PowerPoint</Application>
  <PresentationFormat>Widescreen</PresentationFormat>
  <Paragraphs>220</Paragraphs>
  <Slides>23</Slides>
  <Notes>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Century Gothic</vt:lpstr>
      <vt:lpstr>Wingdings 3</vt:lpstr>
      <vt:lpstr>Slice</vt:lpstr>
      <vt:lpstr>EN2533 - Robot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3 – the oracle of runes</vt:lpstr>
      <vt:lpstr>PowerPoint Presentation</vt:lpstr>
      <vt:lpstr>Task 4 – the circular fortress</vt:lpstr>
      <vt:lpstr>PowerPoint Presentation</vt:lpstr>
      <vt:lpstr>Task 5 – the wall of whispers &amp; pendulum of doom</vt:lpstr>
      <vt:lpstr>PowerPoint Presentation</vt:lpstr>
      <vt:lpstr>PowerPoint Presentation</vt:lpstr>
      <vt:lpstr>Task 6 – the line of destiny &amp; the ring of triumph</vt:lpstr>
      <vt:lpstr>PowerPoint Presentation</vt:lpstr>
      <vt:lpstr>PowerPoint Presentation</vt:lpstr>
      <vt:lpstr>The Budget</vt:lpstr>
      <vt:lpstr>PowerPoint Presentation</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Chamod Dharmakeerthi</dc:creator>
  <cp:lastModifiedBy>Januka Sanujaya</cp:lastModifiedBy>
  <cp:revision>3</cp:revision>
  <dcterms:created xsi:type="dcterms:W3CDTF">2025-09-19T05:09:52Z</dcterms:created>
  <dcterms:modified xsi:type="dcterms:W3CDTF">2025-09-19T17:47:26Z</dcterms:modified>
</cp:coreProperties>
</file>